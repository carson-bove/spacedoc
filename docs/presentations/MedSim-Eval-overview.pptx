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4972df3-f1a3-4a6e-1fb7-1cae7c540384}">
          <p14:sldIdLst>
            <p14:sldId id="256"/>
            <p14:sldId id="257"/>
          </p14:sldIdLst>
        </p14:section>
        <p14:section name="How it works" id="{6b42c078-29d6-2fba-40ae-10c96331b2c2}">
          <p14:sldIdLst>
            <p14:sldId id="258"/>
            <p14:sldId id="259"/>
            <p14:sldId id="260"/>
            <p14:sldId id="261"/>
          </p14:sldIdLst>
        </p14:section>
        <p14:section name="Example" id="{ad8bf46c-8b3d-433a-71e9-10eb4b42423d}">
          <p14:sldIdLst>
            <p14:sldId id="262"/>
          </p14:sldIdLst>
        </p14:section>
        <p14:section name="Plan of work" id="{cf838fb4-6335-f7a9-189d-70654b9d307c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1" i="0" u="none" strike="noStrike">
                <a:solidFill>
                  <a:schemeClr val="tx2"/>
                </a:solidFill>
                <a:latin typeface="+mn-lt"/>
              </a:defRPr>
            </a:pPr>
            <a:r>
              <a:rPr sz="1500" b="1" i="0" u="none" strike="noStrike">
                <a:solidFill>
                  <a:schemeClr val="tx2"/>
                </a:solidFill>
                <a:latin typeface="+mn-lt"/>
              </a:rPr>
              <a:t>Conditions possible per environment (of 118)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Conditions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Low Earth orbit</c:v>
                  </c:pt>
                  <c:pt idx="1">
                    <c:v>Cislunar space</c:v>
                  </c:pt>
                  <c:pt idx="2">
                    <c:v>Lunar surface</c:v>
                  </c:pt>
                  <c:pt idx="3">
                    <c:v>Mars transit</c:v>
                  </c:pt>
                  <c:pt idx="4">
                    <c:v>Mars surface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89</c:v>
                </c:pt>
                <c:pt idx="2">
                  <c:v>108</c:v>
                </c:pt>
                <c:pt idx="3">
                  <c:v>89</c:v>
                </c:pt>
                <c:pt idx="4">
                  <c:v>106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chemeClr val="tx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chemeClr val="tx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chemeClr val="accent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1" i="0" u="none" strike="noStrike">
                <a:solidFill>
                  <a:schemeClr val="tx2"/>
                </a:solidFill>
                <a:latin typeface="+mn-lt"/>
              </a:defRPr>
            </a:pPr>
            <a:r>
              <a:rPr sz="1500" b="1" i="0" u="none" strike="noStrike">
                <a:solidFill>
                  <a:schemeClr val="tx2"/>
                </a:solidFill>
                <a:latin typeface="+mn-lt"/>
              </a:rPr>
              <a:t>Medical kit aboard, by vehicle (item types)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Drugs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ISS</c:v>
                  </c:pt>
                  <c:pt idx="1">
                    <c:v>Orion</c:v>
                  </c:pt>
                  <c:pt idx="2">
                    <c:v>Lunar lander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84</c:v>
                </c:pt>
                <c:pt idx="1">
                  <c:v>55</c:v>
                </c:pt>
                <c:pt idx="2">
                  <c:v>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Equipment</c:v>
                </c:pt>
              </c:strCache>
            </c:strRef>
          </c:tx>
          <c:spPr>
            <a:solidFill>
              <a:schemeClr val="accent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ISS</c:v>
                  </c:pt>
                  <c:pt idx="1">
                    <c:v>Orion</c:v>
                  </c:pt>
                  <c:pt idx="2">
                    <c:v>Lunar lander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142</c:v>
                </c:pt>
                <c:pt idx="1">
                  <c:v>62</c:v>
                </c:pt>
                <c:pt idx="2">
                  <c:v>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chemeClr val="tx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chemeClr val="tx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chemeClr val="accent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chemeClr val="tx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1" i="0" u="none" strike="noStrike">
                <a:solidFill>
                  <a:schemeClr val="tx2"/>
                </a:solidFill>
                <a:latin typeface="+mn-lt"/>
              </a:defRPr>
            </a:pPr>
            <a:r>
              <a:rPr sz="1500" b="1" i="0" u="none" strike="noStrike">
                <a:solidFill>
                  <a:schemeClr val="tx2"/>
                </a:solidFill>
                <a:latin typeface="+mn-lt"/>
              </a:rPr>
              <a:t>Worked example: checklist weight by domain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Expected actions (points)</c:v>
                </c:pt>
              </c:strCache>
            </c:strRef>
          </c:tx>
          <c:spPr>
            <a:solidFill>
              <a:schemeClr val="tx2"/>
            </a:solidFill>
            <a:effectLst/>
          </c:spPr>
          <c:invertIfNegative val="0"/>
          <c:dLbls>
            <c:numFmt formatCode="0;-0;;@" sourceLinked="0"/>
            <c:txPr>
              <a:bodyPr/>
              <a:lstStyle/>
              <a:p>
                <a:pPr>
                  <a:defRPr b="0" i="0" strike="noStrike" sz="1300" u="non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Information gathering</c:v>
                  </c:pt>
                  <c:pt idx="1">
                    <c:v>Diagnostic reasoning</c:v>
                  </c:pt>
                  <c:pt idx="2">
                    <c:v>Management</c:v>
                  </c:pt>
                  <c:pt idx="3">
                    <c:v>Safety and escalation</c:v>
                  </c:pt>
                  <c:pt idx="4">
                    <c:v>Environment and resources</c:v>
                  </c:pt>
                  <c:pt idx="5">
                    <c:v>Communication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</c:v>
                </c:pt>
                <c:pt idx="1">
                  <c:v>12</c:v>
                </c:pt>
                <c:pt idx="2">
                  <c:v>21</c:v>
                </c:pt>
                <c:pt idx="3">
                  <c:v>15</c:v>
                </c:pt>
                <c:pt idx="4">
                  <c:v>3</c:v>
                </c:pt>
                <c:pt idx="5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Errors (penalty)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0;-0;;@" sourceLinked="0"/>
            <c:txPr>
              <a:bodyPr/>
              <a:lstStyle/>
              <a:p>
                <a:pPr>
                  <a:defRPr b="0" i="0" strike="noStrike" sz="1300" u="non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Information gathering</c:v>
                  </c:pt>
                  <c:pt idx="1">
                    <c:v>Diagnostic reasoning</c:v>
                  </c:pt>
                  <c:pt idx="2">
                    <c:v>Management</c:v>
                  </c:pt>
                  <c:pt idx="3">
                    <c:v>Safety and escalation</c:v>
                  </c:pt>
                  <c:pt idx="4">
                    <c:v>Environment and resources</c:v>
                  </c:pt>
                  <c:pt idx="5">
                    <c:v>Communication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6</c:v>
                </c:pt>
                <c:pt idx="2">
                  <c:v>4</c:v>
                </c:pt>
                <c:pt idx="3">
                  <c:v>0</c:v>
                </c:pt>
                <c:pt idx="4">
                  <c:v>13</c:v>
                </c:pt>
                <c:pt idx="5">
                  <c:v>0</c:v>
                </c:pt>
              </c:numCache>
            </c:numRef>
          </c:val>
        </c:ser>
        <c:dLbls>
          <c:numFmt formatCode="0;-0;;@" sourceLinked="0"/>
          <c:txPr>
            <a:bodyPr/>
            <a:lstStyle/>
            <a:p>
              <a:pPr>
                <a:defRPr b="0" i="0" strike="noStrike" sz="1300" u="none">
                  <a:solidFill>
                    <a:schemeClr val="tx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tx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chemeClr val="accent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chemeClr val="tx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1" i="0" u="none" strike="noStrike">
                <a:solidFill>
                  <a:schemeClr val="tx2"/>
                </a:solidFill>
                <a:latin typeface="+mn-lt"/>
              </a:defRPr>
            </a:pPr>
            <a:r>
              <a:rPr sz="1500" b="1" i="0" u="none" strike="noStrike">
                <a:solidFill>
                  <a:schemeClr val="tx2"/>
                </a:solidFill>
                <a:latin typeface="+mn-lt"/>
              </a:rPr>
              <a:t>Worst case: risk of loss of crew life (maximum)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 of loss of crew life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600" u="non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Treated in time</c:v>
                  </c:pt>
                  <c:pt idx="1">
                    <c:v>Untreated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8.7</c:v>
                </c:pt>
                <c:pt idx="1">
                  <c:v>50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600" u="none">
                  <a:solidFill>
                    <a:schemeClr val="tx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chemeClr val="tx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chemeClr val="accent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82880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383280"/>
            <a:ext cx="7498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5760720"/>
            <a:ext cx="7315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MedSim Eval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MedSim Eval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8288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MedSim Eval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3832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Testing space-medicine assistants in simulated missions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5760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Overview · evaluation stack and plan of work</a:t>
            </a:r>
            <a:endParaRPr lang="en-US" sz="1400" dirty="0"/>
          </a:p>
        </p:txBody>
      </p:sp>
      <p:sp>
        <p:nvSpPr>
          <p:cNvPr id="5" name="Orbit outer"/>
          <p:cNvSpPr/>
          <p:nvPr/>
        </p:nvSpPr>
        <p:spPr>
          <a:xfrm>
            <a:off x="8503920" y="914400"/>
            <a:ext cx="5120640" cy="5120640"/>
          </a:xfrm>
          <a:prstGeom prst="ellipse">
            <a:avLst/>
          </a:prstGeom>
          <a:ln w="19050">
            <a:solidFill>
              <a:schemeClr val="accent3"/>
            </a:solidFill>
            <a:prstDash val="solid"/>
          </a:ln>
        </p:spPr>
      </p:sp>
      <p:sp>
        <p:nvSpPr>
          <p:cNvPr id="6" name="Orbit inner"/>
          <p:cNvSpPr/>
          <p:nvPr/>
        </p:nvSpPr>
        <p:spPr>
          <a:xfrm>
            <a:off x="9464040" y="1874520"/>
            <a:ext cx="3200400" cy="3200400"/>
          </a:xfrm>
          <a:prstGeom prst="ellipse">
            <a:avLst/>
          </a:prstGeom>
          <a:ln w="19050">
            <a:solidFill>
              <a:schemeClr val="accent3"/>
            </a:solidFill>
            <a:prstDash val="solid"/>
          </a:ln>
        </p:spPr>
      </p:sp>
      <p:sp>
        <p:nvSpPr>
          <p:cNvPr id="7" name="Planet"/>
          <p:cNvSpPr/>
          <p:nvPr/>
        </p:nvSpPr>
        <p:spPr>
          <a:xfrm>
            <a:off x="10469880" y="288036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Moon"/>
          <p:cNvSpPr/>
          <p:nvPr/>
        </p:nvSpPr>
        <p:spPr>
          <a:xfrm>
            <a:off x="8732520" y="1691640"/>
            <a:ext cx="384048" cy="384048"/>
          </a:xfrm>
          <a:prstGeom prst="ellipse">
            <a:avLst/>
          </a:prstGeom>
          <a:solidFill>
            <a:schemeClr val="bg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The evaluation stack, from scenario to report</a:t>
            </a:r>
            <a:endParaRPr lang="en-US" sz="3400" dirty="0"/>
          </a:p>
        </p:txBody>
      </p:sp>
      <p:sp>
        <p:nvSpPr>
          <p:cNvPr id="3" name="Layer 1 card"/>
          <p:cNvSpPr/>
          <p:nvPr/>
        </p:nvSpPr>
        <p:spPr>
          <a:xfrm>
            <a:off x="548640" y="1371600"/>
            <a:ext cx="70408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4" name="Layer 1 circle"/>
          <p:cNvSpPr/>
          <p:nvPr/>
        </p:nvSpPr>
        <p:spPr>
          <a:xfrm>
            <a:off x="777240" y="1554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Layer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406" y="1739646"/>
            <a:ext cx="315468" cy="315468"/>
          </a:xfrm>
          <a:prstGeom prst="rect">
            <a:avLst/>
          </a:prstGeom>
        </p:spPr>
      </p:pic>
      <p:sp>
        <p:nvSpPr>
          <p:cNvPr id="6" name="Layer 1 title"/>
          <p:cNvSpPr txBox="1"/>
          <p:nvPr/>
        </p:nvSpPr>
        <p:spPr>
          <a:xfrm>
            <a:off x="1691640" y="15270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  Scenario authoring</a:t>
            </a:r>
            <a:endParaRPr lang="en-US" sz="1800" dirty="0"/>
          </a:p>
        </p:txBody>
      </p:sp>
      <p:sp>
        <p:nvSpPr>
          <p:cNvPr id="7" name="Layer 1 text"/>
          <p:cNvSpPr txBox="1"/>
          <p:nvPr/>
        </p:nvSpPr>
        <p:spPr>
          <a:xfrm>
            <a:off x="1691640" y="1920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Scenario Builder, validator and a NASA-sourced library</a:t>
            </a:r>
            <a:endParaRPr lang="en-US" sz="1400" dirty="0"/>
          </a:p>
        </p:txBody>
      </p:sp>
      <p:sp>
        <p:nvSpPr>
          <p:cNvPr id="8" name="Layer 1 status"/>
          <p:cNvSpPr/>
          <p:nvPr/>
        </p:nvSpPr>
        <p:spPr>
          <a:xfrm>
            <a:off x="6263640" y="1709928"/>
            <a:ext cx="109728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Built</a:t>
            </a:r>
            <a:endParaRPr lang="en-US" sz="1300" dirty="0"/>
          </a:p>
        </p:txBody>
      </p:sp>
      <p:sp>
        <p:nvSpPr>
          <p:cNvPr id="9" name="Layer 2 card"/>
          <p:cNvSpPr/>
          <p:nvPr/>
        </p:nvSpPr>
        <p:spPr>
          <a:xfrm>
            <a:off x="548640" y="2587752"/>
            <a:ext cx="70408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0" name="Layer 2 circle"/>
          <p:cNvSpPr/>
          <p:nvPr/>
        </p:nvSpPr>
        <p:spPr>
          <a:xfrm>
            <a:off x="777240" y="2770632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Layer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406" y="2955798"/>
            <a:ext cx="315468" cy="315468"/>
          </a:xfrm>
          <a:prstGeom prst="rect">
            <a:avLst/>
          </a:prstGeom>
        </p:spPr>
      </p:pic>
      <p:sp>
        <p:nvSpPr>
          <p:cNvPr id="12" name="Layer 2 title"/>
          <p:cNvSpPr txBox="1"/>
          <p:nvPr/>
        </p:nvSpPr>
        <p:spPr>
          <a:xfrm>
            <a:off x="1691640" y="2743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  Simulation</a:t>
            </a:r>
            <a:endParaRPr lang="en-US" sz="1800" dirty="0"/>
          </a:p>
        </p:txBody>
      </p:sp>
      <p:sp>
        <p:nvSpPr>
          <p:cNvPr id="13" name="Layer 2 text"/>
          <p:cNvSpPr txBox="1"/>
          <p:nvPr/>
        </p:nvSpPr>
        <p:spPr>
          <a:xfrm>
            <a:off x="1691640" y="31363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Digital twin of the patient, AI crewmember, batch runner</a:t>
            </a:r>
            <a:endParaRPr lang="en-US" sz="1400" dirty="0"/>
          </a:p>
        </p:txBody>
      </p:sp>
      <p:sp>
        <p:nvSpPr>
          <p:cNvPr id="14" name="Layer 2 status"/>
          <p:cNvSpPr/>
          <p:nvPr/>
        </p:nvSpPr>
        <p:spPr>
          <a:xfrm>
            <a:off x="6263640" y="2926080"/>
            <a:ext cx="1097280" cy="384048"/>
          </a:xfrm>
          <a:prstGeom prst="roundRect">
            <a:avLst>
              <a:gd name="adj" fmla="val 47619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Designed</a:t>
            </a:r>
            <a:endParaRPr lang="en-US" sz="1300" dirty="0"/>
          </a:p>
        </p:txBody>
      </p:sp>
      <p:sp>
        <p:nvSpPr>
          <p:cNvPr id="15" name="Layer 3 card"/>
          <p:cNvSpPr/>
          <p:nvPr/>
        </p:nvSpPr>
        <p:spPr>
          <a:xfrm>
            <a:off x="548640" y="3803904"/>
            <a:ext cx="70408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6" name="Layer 3 circle"/>
          <p:cNvSpPr/>
          <p:nvPr/>
        </p:nvSpPr>
        <p:spPr>
          <a:xfrm>
            <a:off x="777240" y="3986784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Layer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406" y="4171950"/>
            <a:ext cx="315468" cy="315468"/>
          </a:xfrm>
          <a:prstGeom prst="rect">
            <a:avLst/>
          </a:prstGeom>
        </p:spPr>
      </p:pic>
      <p:sp>
        <p:nvSpPr>
          <p:cNvPr id="18" name="Layer 3 title"/>
          <p:cNvSpPr txBox="1"/>
          <p:nvPr/>
        </p:nvSpPr>
        <p:spPr>
          <a:xfrm>
            <a:off x="1691640" y="39593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  Scoring</a:t>
            </a:r>
            <a:endParaRPr lang="en-US" sz="1800" dirty="0"/>
          </a:p>
        </p:txBody>
      </p:sp>
      <p:sp>
        <p:nvSpPr>
          <p:cNvPr id="19" name="Layer 3 text"/>
          <p:cNvSpPr txBox="1"/>
          <p:nvPr/>
        </p:nvSpPr>
        <p:spPr>
          <a:xfrm>
            <a:off x="1691640" y="435254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Per-run scorer, judge across runs, anomaly viewer</a:t>
            </a:r>
            <a:endParaRPr lang="en-US" sz="1400" dirty="0"/>
          </a:p>
        </p:txBody>
      </p:sp>
      <p:sp>
        <p:nvSpPr>
          <p:cNvPr id="20" name="Layer 3 status"/>
          <p:cNvSpPr/>
          <p:nvPr/>
        </p:nvSpPr>
        <p:spPr>
          <a:xfrm>
            <a:off x="6263640" y="4142232"/>
            <a:ext cx="1097280" cy="384048"/>
          </a:xfrm>
          <a:prstGeom prst="roundRect">
            <a:avLst>
              <a:gd name="adj" fmla="val 47619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Designed</a:t>
            </a:r>
            <a:endParaRPr lang="en-US" sz="1300" dirty="0"/>
          </a:p>
        </p:txBody>
      </p:sp>
      <p:sp>
        <p:nvSpPr>
          <p:cNvPr id="21" name="Layer 4 card"/>
          <p:cNvSpPr/>
          <p:nvPr/>
        </p:nvSpPr>
        <p:spPr>
          <a:xfrm>
            <a:off x="548640" y="5020056"/>
            <a:ext cx="70408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22" name="Layer 4 circle"/>
          <p:cNvSpPr/>
          <p:nvPr/>
        </p:nvSpPr>
        <p:spPr>
          <a:xfrm>
            <a:off x="777240" y="5202936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Layer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406" y="5388102"/>
            <a:ext cx="315468" cy="315468"/>
          </a:xfrm>
          <a:prstGeom prst="rect">
            <a:avLst/>
          </a:prstGeom>
        </p:spPr>
      </p:pic>
      <p:sp>
        <p:nvSpPr>
          <p:cNvPr id="24" name="Layer 4 title"/>
          <p:cNvSpPr txBox="1"/>
          <p:nvPr/>
        </p:nvSpPr>
        <p:spPr>
          <a:xfrm>
            <a:off x="1691640" y="517550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  Reporting</a:t>
            </a:r>
            <a:endParaRPr lang="en-US" sz="1800" dirty="0"/>
          </a:p>
        </p:txBody>
      </p:sp>
      <p:sp>
        <p:nvSpPr>
          <p:cNvPr id="25" name="Layer 4 text"/>
          <p:cNvSpPr txBox="1"/>
          <p:nvPr/>
        </p:nvSpPr>
        <p:spPr>
          <a:xfrm>
            <a:off x="1691640" y="55686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Medical report and technical report</a:t>
            </a:r>
            <a:endParaRPr lang="en-US" sz="1400" dirty="0"/>
          </a:p>
        </p:txBody>
      </p:sp>
      <p:sp>
        <p:nvSpPr>
          <p:cNvPr id="26" name="Layer 4 status"/>
          <p:cNvSpPr/>
          <p:nvPr/>
        </p:nvSpPr>
        <p:spPr>
          <a:xfrm>
            <a:off x="6263640" y="5358384"/>
            <a:ext cx="1097280" cy="384048"/>
          </a:xfrm>
          <a:prstGeom prst="roundRect">
            <a:avLst>
              <a:gd name="adj" fmla="val 47619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Designed</a:t>
            </a:r>
            <a:endParaRPr lang="en-US" sz="1300" dirty="0"/>
          </a:p>
        </p:txBody>
      </p:sp>
      <p:sp>
        <p:nvSpPr>
          <p:cNvPr id="27" name="Principles panel"/>
          <p:cNvSpPr/>
          <p:nvPr/>
        </p:nvSpPr>
        <p:spPr>
          <a:xfrm>
            <a:off x="7955280" y="1371600"/>
            <a:ext cx="3657600" cy="4700016"/>
          </a:xfrm>
          <a:prstGeom prst="roundRect">
            <a:avLst>
              <a:gd name="adj" fmla="val 2000"/>
            </a:avLst>
          </a:prstGeom>
          <a:solidFill>
            <a:schemeClr val="tx2"/>
          </a:solidFill>
          <a:ln/>
        </p:spPr>
      </p:sp>
      <p:sp>
        <p:nvSpPr>
          <p:cNvPr id="28" name="Principle 1 circle"/>
          <p:cNvSpPr/>
          <p:nvPr/>
        </p:nvSpPr>
        <p:spPr>
          <a:xfrm>
            <a:off x="8229600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Principle 1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2422" y="1910182"/>
            <a:ext cx="294437" cy="294437"/>
          </a:xfrm>
          <a:prstGeom prst="rect">
            <a:avLst/>
          </a:prstGeom>
        </p:spPr>
      </p:pic>
      <p:sp>
        <p:nvSpPr>
          <p:cNvPr id="30" name="Principle 1 title"/>
          <p:cNvSpPr txBox="1"/>
          <p:nvPr/>
        </p:nvSpPr>
        <p:spPr>
          <a:xfrm>
            <a:off x="9052560" y="17190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Any assistant</a:t>
            </a:r>
            <a:endParaRPr lang="en-US" sz="1600" dirty="0"/>
          </a:p>
        </p:txBody>
      </p:sp>
      <p:sp>
        <p:nvSpPr>
          <p:cNvPr id="31" name="Principle 1 text"/>
          <p:cNvSpPr txBox="1"/>
          <p:nvPr/>
        </p:nvSpPr>
        <p:spPr>
          <a:xfrm>
            <a:off x="9052560" y="21031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SpaceDoc, CMO-DA or homegrown, through a small adapter and MCP tools.</a:t>
            </a:r>
            <a:endParaRPr lang="en-US" sz="1400" dirty="0"/>
          </a:p>
        </p:txBody>
      </p:sp>
      <p:sp>
        <p:nvSpPr>
          <p:cNvPr id="32" name="Principle 2 circle"/>
          <p:cNvSpPr/>
          <p:nvPr/>
        </p:nvSpPr>
        <p:spPr>
          <a:xfrm>
            <a:off x="8229600" y="32004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3" name="Principle 2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2422" y="3373222"/>
            <a:ext cx="294437" cy="294437"/>
          </a:xfrm>
          <a:prstGeom prst="rect">
            <a:avLst/>
          </a:prstGeom>
        </p:spPr>
      </p:pic>
      <p:sp>
        <p:nvSpPr>
          <p:cNvPr id="34" name="Principle 2 title"/>
          <p:cNvSpPr txBox="1"/>
          <p:nvPr/>
        </p:nvSpPr>
        <p:spPr>
          <a:xfrm>
            <a:off x="9052560" y="31821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Runs locally</a:t>
            </a:r>
            <a:endParaRPr lang="en-US" sz="1600" dirty="0"/>
          </a:p>
        </p:txBody>
      </p:sp>
      <p:sp>
        <p:nvSpPr>
          <p:cNvPr id="35" name="Principle 2 text"/>
          <p:cNvSpPr txBox="1"/>
          <p:nvPr/>
        </p:nvSpPr>
        <p:spPr>
          <a:xfrm>
            <a:off x="9052560" y="3566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On a laptop, overnight. No cloud calls.</a:t>
            </a:r>
            <a:endParaRPr lang="en-US" sz="1400" dirty="0"/>
          </a:p>
        </p:txBody>
      </p:sp>
      <p:sp>
        <p:nvSpPr>
          <p:cNvPr id="36" name="Principle 3 circle"/>
          <p:cNvSpPr/>
          <p:nvPr/>
        </p:nvSpPr>
        <p:spPr>
          <a:xfrm>
            <a:off x="8229600" y="46634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7" name="Principle 3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2422" y="4836262"/>
            <a:ext cx="294437" cy="294437"/>
          </a:xfrm>
          <a:prstGeom prst="rect">
            <a:avLst/>
          </a:prstGeom>
        </p:spPr>
      </p:pic>
      <p:sp>
        <p:nvSpPr>
          <p:cNvPr id="38" name="Principle 3 title"/>
          <p:cNvSpPr txBox="1"/>
          <p:nvPr/>
        </p:nvSpPr>
        <p:spPr>
          <a:xfrm>
            <a:off x="9052560" y="4645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Traceable scores</a:t>
            </a:r>
            <a:endParaRPr lang="en-US" sz="1600" dirty="0"/>
          </a:p>
        </p:txBody>
      </p:sp>
      <p:sp>
        <p:nvSpPr>
          <p:cNvPr id="39" name="Principle 3 text"/>
          <p:cNvSpPr txBox="1"/>
          <p:nvPr/>
        </p:nvSpPr>
        <p:spPr>
          <a:xfrm>
            <a:off x="9052560" y="50292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Each score links to the transcript turn or twin event behind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How a scenario runs, from authoring to reports</a:t>
            </a:r>
            <a:endParaRPr lang="en-US" sz="3400" dirty="0"/>
          </a:p>
        </p:txBody>
      </p:sp>
      <p:sp>
        <p:nvSpPr>
          <p:cNvPr id="3" name="Authoring box"/>
          <p:cNvSpPr/>
          <p:nvPr/>
        </p:nvSpPr>
        <p:spPr>
          <a:xfrm>
            <a:off x="548640" y="1325880"/>
            <a:ext cx="29260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4" name="Authoring title"/>
          <p:cNvSpPr txBox="1"/>
          <p:nvPr/>
        </p:nvSpPr>
        <p:spPr>
          <a:xfrm>
            <a:off x="73152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Scenario authoring</a:t>
            </a:r>
            <a:endParaRPr lang="en-US" sz="1400" dirty="0"/>
          </a:p>
        </p:txBody>
      </p:sp>
      <p:sp>
        <p:nvSpPr>
          <p:cNvPr id="5" name="Authoring text"/>
          <p:cNvSpPr txBox="1"/>
          <p:nvPr/>
        </p:nvSpPr>
        <p:spPr>
          <a:xfrm>
            <a:off x="731520" y="1874520"/>
            <a:ext cx="2606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Clerks write scenarios in the Scenario Builder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NASA library: missions, CLiFFs, kits, crew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Physiologist reviews flagged scenarios</a:t>
            </a:r>
            <a:endParaRPr lang="en-US" sz="1200" dirty="0"/>
          </a:p>
        </p:txBody>
      </p:sp>
      <p:sp>
        <p:nvSpPr>
          <p:cNvPr id="6" name="Arrow authoring"/>
          <p:cNvSpPr/>
          <p:nvPr/>
        </p:nvSpPr>
        <p:spPr>
          <a:xfrm>
            <a:off x="3547872" y="2377440"/>
            <a:ext cx="329184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7" name="Simulation group"/>
          <p:cNvSpPr/>
          <p:nvPr/>
        </p:nvSpPr>
        <p:spPr>
          <a:xfrm>
            <a:off x="3931920" y="1325880"/>
            <a:ext cx="4023360" cy="2103120"/>
          </a:xfrm>
          <a:prstGeom prst="roundRect">
            <a:avLst>
              <a:gd name="adj" fmla="val 3478"/>
            </a:avLst>
          </a:prstGeom>
          <a:ln w="15875">
            <a:solidFill>
              <a:schemeClr val="accent2"/>
            </a:solidFill>
            <a:prstDash val="dash"/>
          </a:ln>
        </p:spPr>
      </p:sp>
      <p:sp>
        <p:nvSpPr>
          <p:cNvPr id="8" name="Simulation label"/>
          <p:cNvSpPr txBox="1"/>
          <p:nvPr/>
        </p:nvSpPr>
        <p:spPr>
          <a:xfrm>
            <a:off x="4114800" y="1399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MedSim Eval · runs locally</a:t>
            </a:r>
            <a:endParaRPr lang="en-US" sz="1200" dirty="0"/>
          </a:p>
        </p:txBody>
      </p:sp>
      <p:sp>
        <p:nvSpPr>
          <p:cNvPr id="9" name="User agent box"/>
          <p:cNvSpPr/>
          <p:nvPr/>
        </p:nvSpPr>
        <p:spPr>
          <a:xfrm>
            <a:off x="4114800" y="1719072"/>
            <a:ext cx="365760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10" name="User agent text"/>
          <p:cNvSpPr txBox="1"/>
          <p:nvPr/>
        </p:nvSpPr>
        <p:spPr>
          <a:xfrm>
            <a:off x="4242816" y="1810512"/>
            <a:ext cx="3401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AI crewmember (user agent)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Plays the patient or CMO, as the scenario describes</a:t>
            </a:r>
            <a:endParaRPr lang="en-US" sz="1400" dirty="0"/>
          </a:p>
        </p:txBody>
      </p:sp>
      <p:sp>
        <p:nvSpPr>
          <p:cNvPr id="11" name="Twin box"/>
          <p:cNvSpPr/>
          <p:nvPr/>
        </p:nvSpPr>
        <p:spPr>
          <a:xfrm>
            <a:off x="4114800" y="2560320"/>
            <a:ext cx="365760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12" name="Twin text"/>
          <p:cNvSpPr txBox="1"/>
          <p:nvPr/>
        </p:nvSpPr>
        <p:spPr>
          <a:xfrm>
            <a:off x="4242816" y="2651760"/>
            <a:ext cx="3401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Digital twin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Patient physiology, onboard kit and a simulated clock</a:t>
            </a:r>
            <a:endParaRPr lang="en-US" sz="1400" dirty="0"/>
          </a:p>
        </p:txBody>
      </p:sp>
      <p:sp>
        <p:nvSpPr>
          <p:cNvPr id="13" name="Assistant box"/>
          <p:cNvSpPr/>
          <p:nvPr/>
        </p:nvSpPr>
        <p:spPr>
          <a:xfrm>
            <a:off x="9144000" y="1325880"/>
            <a:ext cx="2468880" cy="2103120"/>
          </a:xfrm>
          <a:prstGeom prst="roundRect">
            <a:avLst>
              <a:gd name="adj" fmla="val 3478"/>
            </a:avLst>
          </a:prstGeom>
          <a:solidFill>
            <a:schemeClr val="accent1"/>
          </a:solidFill>
          <a:ln/>
        </p:spPr>
      </p:sp>
      <p:sp>
        <p:nvSpPr>
          <p:cNvPr id="14" name="Assistant text"/>
          <p:cNvSpPr txBox="1"/>
          <p:nvPr/>
        </p:nvSpPr>
        <p:spPr>
          <a:xfrm>
            <a:off x="9326880" y="146304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Assistant under test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SpaceDoc, CMO-DA or any other</a:t>
            </a:r>
            <a:endParaRPr lang="en-US" sz="1500" dirty="0"/>
          </a:p>
        </p:txBody>
      </p:sp>
      <p:sp>
        <p:nvSpPr>
          <p:cNvPr id="15" name="Conversation label"/>
          <p:cNvSpPr txBox="1"/>
          <p:nvPr/>
        </p:nvSpPr>
        <p:spPr>
          <a:xfrm>
            <a:off x="8001000" y="18105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Conversation</a:t>
            </a:r>
            <a:endParaRPr lang="en-US" sz="1200" dirty="0"/>
          </a:p>
        </p:txBody>
      </p:sp>
      <p:sp>
        <p:nvSpPr>
          <p:cNvPr id="16" name="Arrow conversation"/>
          <p:cNvSpPr/>
          <p:nvPr/>
        </p:nvSpPr>
        <p:spPr>
          <a:xfrm>
            <a:off x="7863840" y="2093976"/>
            <a:ext cx="1207008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headEnd type="triangle"/>
            <a:tailEnd type="triangle"/>
          </a:ln>
        </p:spPr>
      </p:sp>
      <p:sp>
        <p:nvSpPr>
          <p:cNvPr id="17" name="Tools label"/>
          <p:cNvSpPr txBox="1"/>
          <p:nvPr/>
        </p:nvSpPr>
        <p:spPr>
          <a:xfrm>
            <a:off x="8001000" y="26517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MCP tools</a:t>
            </a:r>
            <a:endParaRPr lang="en-US" sz="1200" dirty="0"/>
          </a:p>
        </p:txBody>
      </p:sp>
      <p:sp>
        <p:nvSpPr>
          <p:cNvPr id="18" name="Arrow tools"/>
          <p:cNvSpPr/>
          <p:nvPr/>
        </p:nvSpPr>
        <p:spPr>
          <a:xfrm>
            <a:off x="7863840" y="2935224"/>
            <a:ext cx="1207008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headEnd type="triangle"/>
            <a:tailEnd type="triangle"/>
          </a:ln>
        </p:spPr>
      </p:sp>
      <p:sp>
        <p:nvSpPr>
          <p:cNvPr id="19" name="Arrow to log"/>
          <p:cNvSpPr/>
          <p:nvPr/>
        </p:nvSpPr>
        <p:spPr>
          <a:xfrm>
            <a:off x="5943600" y="3456432"/>
            <a:ext cx="0" cy="201168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0" name="Run log band"/>
          <p:cNvSpPr/>
          <p:nvPr/>
        </p:nvSpPr>
        <p:spPr>
          <a:xfrm>
            <a:off x="548640" y="3675888"/>
            <a:ext cx="1106424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Every run logs the conversation, tool calls (vitals, exams, tests, treatments) and twin state, in simulated time</a:t>
            </a:r>
            <a:endParaRPr lang="en-US" sz="1200" dirty="0"/>
          </a:p>
        </p:txBody>
      </p:sp>
      <p:sp>
        <p:nvSpPr>
          <p:cNvPr id="21" name="Arrow to scorer"/>
          <p:cNvSpPr/>
          <p:nvPr/>
        </p:nvSpPr>
        <p:spPr>
          <a:xfrm>
            <a:off x="1490472" y="4078224"/>
            <a:ext cx="0" cy="18288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2" name="Pipeline 1 box"/>
          <p:cNvSpPr/>
          <p:nvPr/>
        </p:nvSpPr>
        <p:spPr>
          <a:xfrm>
            <a:off x="548640" y="4279392"/>
            <a:ext cx="1883664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3" name="Pipeline 1 text"/>
          <p:cNvSpPr txBox="1"/>
          <p:nvPr/>
        </p:nvSpPr>
        <p:spPr>
          <a:xfrm>
            <a:off x="676656" y="4370832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Scorer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Checks each rubric item in each run, citing evidence</a:t>
            </a:r>
            <a:endParaRPr lang="en-US" sz="1400" dirty="0"/>
          </a:p>
        </p:txBody>
      </p:sp>
      <p:sp>
        <p:nvSpPr>
          <p:cNvPr id="24" name="Arrow pipeline 1"/>
          <p:cNvSpPr/>
          <p:nvPr/>
        </p:nvSpPr>
        <p:spPr>
          <a:xfrm>
            <a:off x="2468880" y="4873752"/>
            <a:ext cx="338328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5" name="Pipeline 2 box"/>
          <p:cNvSpPr/>
          <p:nvPr/>
        </p:nvSpPr>
        <p:spPr>
          <a:xfrm>
            <a:off x="2843784" y="4279392"/>
            <a:ext cx="1883664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6" name="Pipeline 2 text"/>
          <p:cNvSpPr txBox="1"/>
          <p:nvPr/>
        </p:nvSpPr>
        <p:spPr>
          <a:xfrm>
            <a:off x="2971800" y="4370832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Judge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Reads every run, summarises and flags anomalies</a:t>
            </a:r>
            <a:endParaRPr lang="en-US" sz="1400" dirty="0"/>
          </a:p>
        </p:txBody>
      </p:sp>
      <p:sp>
        <p:nvSpPr>
          <p:cNvPr id="27" name="Arrow pipeline 2"/>
          <p:cNvSpPr/>
          <p:nvPr/>
        </p:nvSpPr>
        <p:spPr>
          <a:xfrm>
            <a:off x="4764024" y="4873752"/>
            <a:ext cx="338328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8" name="Pipeline 3 box"/>
          <p:cNvSpPr/>
          <p:nvPr/>
        </p:nvSpPr>
        <p:spPr>
          <a:xfrm>
            <a:off x="5138928" y="4279392"/>
            <a:ext cx="1883664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9" name="Pipeline 3 text"/>
          <p:cNvSpPr txBox="1"/>
          <p:nvPr/>
        </p:nvSpPr>
        <p:spPr>
          <a:xfrm>
            <a:off x="5266944" y="4370832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Clinician review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Viewer opens each anomaly at the exact turn</a:t>
            </a:r>
            <a:endParaRPr lang="en-US" sz="1400" dirty="0"/>
          </a:p>
        </p:txBody>
      </p:sp>
      <p:sp>
        <p:nvSpPr>
          <p:cNvPr id="30" name="Arrow pipeline 3"/>
          <p:cNvSpPr/>
          <p:nvPr/>
        </p:nvSpPr>
        <p:spPr>
          <a:xfrm>
            <a:off x="7059168" y="4873752"/>
            <a:ext cx="338328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1" name="Pipeline 4 box"/>
          <p:cNvSpPr/>
          <p:nvPr/>
        </p:nvSpPr>
        <p:spPr>
          <a:xfrm>
            <a:off x="7434072" y="4279392"/>
            <a:ext cx="1883664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32" name="Pipeline 4 text"/>
          <p:cNvSpPr txBox="1"/>
          <p:nvPr/>
        </p:nvSpPr>
        <p:spPr>
          <a:xfrm>
            <a:off x="7562088" y="4370832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Feedback agent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Turns scores and review into reports</a:t>
            </a:r>
            <a:endParaRPr lang="en-US" sz="1400" dirty="0"/>
          </a:p>
        </p:txBody>
      </p:sp>
      <p:sp>
        <p:nvSpPr>
          <p:cNvPr id="33" name="Arrow pipeline 4"/>
          <p:cNvSpPr/>
          <p:nvPr/>
        </p:nvSpPr>
        <p:spPr>
          <a:xfrm>
            <a:off x="9354312" y="4873752"/>
            <a:ext cx="338328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4" name="Pipeline 5 box"/>
          <p:cNvSpPr/>
          <p:nvPr/>
        </p:nvSpPr>
        <p:spPr>
          <a:xfrm>
            <a:off x="9729216" y="4279392"/>
            <a:ext cx="1883664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/>
        </p:spPr>
      </p:sp>
      <p:sp>
        <p:nvSpPr>
          <p:cNvPr id="35" name="Pipeline 5 text"/>
          <p:cNvSpPr txBox="1"/>
          <p:nvPr/>
        </p:nvSpPr>
        <p:spPr>
          <a:xfrm>
            <a:off x="9857232" y="4370832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Reports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Medical report and technical report</a:t>
            </a:r>
            <a:endParaRPr lang="en-US" sz="1400" dirty="0"/>
          </a:p>
        </p:txBody>
      </p:sp>
      <p:sp>
        <p:nvSpPr>
          <p:cNvPr id="36" name="Diagram note"/>
          <p:cNvSpPr txBox="1"/>
          <p:nvPr/>
        </p:nvSpPr>
        <p:spPr>
          <a:xfrm>
            <a:off x="548640" y="57150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Every run has a seed, so any run can be replayed exactly. All agents run on local models.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Every scenario is grounded in NASA's own data</a:t>
            </a:r>
            <a:endParaRPr lang="en-US" sz="3400" dirty="0"/>
          </a:p>
        </p:txBody>
      </p:sp>
      <p:sp>
        <p:nvSpPr>
          <p:cNvPr id="3" name="Stat 1 card"/>
          <p:cNvSpPr/>
          <p:nvPr/>
        </p:nvSpPr>
        <p:spPr>
          <a:xfrm>
            <a:off x="548640" y="1417320"/>
            <a:ext cx="25146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" name="Stat 1 number"/>
          <p:cNvSpPr txBox="1"/>
          <p:nvPr/>
        </p:nvSpPr>
        <p:spPr>
          <a:xfrm>
            <a:off x="731520" y="15270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118</a:t>
            </a:r>
            <a:endParaRPr lang="en-US" sz="3600" dirty="0"/>
          </a:p>
        </p:txBody>
      </p:sp>
      <p:sp>
        <p:nvSpPr>
          <p:cNvPr id="5" name="Stat 1 label"/>
          <p:cNvSpPr txBox="1"/>
          <p:nvPr/>
        </p:nvSpPr>
        <p:spPr>
          <a:xfrm>
            <a:off x="731520" y="213055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IMM conditions (2023 CLiFFs) with treated and untreated courses</a:t>
            </a:r>
            <a:endParaRPr lang="en-US" sz="1200" dirty="0"/>
          </a:p>
        </p:txBody>
      </p:sp>
      <p:sp>
        <p:nvSpPr>
          <p:cNvPr id="6" name="Stat 2 card"/>
          <p:cNvSpPr/>
          <p:nvPr/>
        </p:nvSpPr>
        <p:spPr>
          <a:xfrm>
            <a:off x="3246120" y="1417320"/>
            <a:ext cx="25146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7" name="Stat 2 number"/>
          <p:cNvSpPr txBox="1"/>
          <p:nvPr/>
        </p:nvSpPr>
        <p:spPr>
          <a:xfrm>
            <a:off x="3429000" y="15270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17</a:t>
            </a:r>
            <a:endParaRPr lang="en-US" sz="3600" dirty="0"/>
          </a:p>
        </p:txBody>
      </p:sp>
      <p:sp>
        <p:nvSpPr>
          <p:cNvPr id="8" name="Stat 2 label"/>
          <p:cNvSpPr txBox="1"/>
          <p:nvPr/>
        </p:nvSpPr>
        <p:spPr>
          <a:xfrm>
            <a:off x="3429000" y="213055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Design Reference Missions</a:t>
            </a:r>
            <a:endParaRPr lang="en-US" sz="1200" dirty="0"/>
          </a:p>
        </p:txBody>
      </p:sp>
      <p:sp>
        <p:nvSpPr>
          <p:cNvPr id="9" name="Stat 3 card"/>
          <p:cNvSpPr/>
          <p:nvPr/>
        </p:nvSpPr>
        <p:spPr>
          <a:xfrm>
            <a:off x="548640" y="2971800"/>
            <a:ext cx="25146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0" name="Stat 3 number"/>
          <p:cNvSpPr txBox="1"/>
          <p:nvPr/>
        </p:nvSpPr>
        <p:spPr>
          <a:xfrm>
            <a:off x="731520" y="308152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</a:t>
            </a:r>
            <a:endParaRPr lang="en-US" sz="3600" dirty="0"/>
          </a:p>
        </p:txBody>
      </p:sp>
      <p:sp>
        <p:nvSpPr>
          <p:cNvPr id="11" name="Stat 3 label"/>
          <p:cNvSpPr txBox="1"/>
          <p:nvPr/>
        </p:nvSpPr>
        <p:spPr>
          <a:xfrm>
            <a:off x="731520" y="368503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habitat medical kits and capability profiles</a:t>
            </a:r>
            <a:endParaRPr lang="en-US" sz="1200" dirty="0"/>
          </a:p>
        </p:txBody>
      </p:sp>
      <p:sp>
        <p:nvSpPr>
          <p:cNvPr id="12" name="Stat 4 card"/>
          <p:cNvSpPr/>
          <p:nvPr/>
        </p:nvSpPr>
        <p:spPr>
          <a:xfrm>
            <a:off x="3246120" y="2971800"/>
            <a:ext cx="25146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3" name="Stat 4 number"/>
          <p:cNvSpPr txBox="1"/>
          <p:nvPr/>
        </p:nvSpPr>
        <p:spPr>
          <a:xfrm>
            <a:off x="3429000" y="308152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</a:t>
            </a:r>
            <a:endParaRPr lang="en-US" sz="3600" dirty="0"/>
          </a:p>
        </p:txBody>
      </p:sp>
      <p:sp>
        <p:nvSpPr>
          <p:cNvPr id="14" name="Stat 4 label"/>
          <p:cNvSpPr txBox="1"/>
          <p:nvPr/>
        </p:nvSpPr>
        <p:spPr>
          <a:xfrm>
            <a:off x="3429000" y="368503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synthetic crewmembers modelled on the active corps</a:t>
            </a:r>
            <a:endParaRPr lang="en-US" sz="1200" dirty="0"/>
          </a:p>
        </p:txBody>
      </p:sp>
      <p:sp>
        <p:nvSpPr>
          <p:cNvPr id="15" name="Stat 5 card"/>
          <p:cNvSpPr/>
          <p:nvPr/>
        </p:nvSpPr>
        <p:spPr>
          <a:xfrm>
            <a:off x="548640" y="4526280"/>
            <a:ext cx="25146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6" name="Stat 5 number"/>
          <p:cNvSpPr txBox="1"/>
          <p:nvPr/>
        </p:nvSpPr>
        <p:spPr>
          <a:xfrm>
            <a:off x="731520" y="463600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678</a:t>
            </a:r>
            <a:endParaRPr lang="en-US" sz="3600" dirty="0"/>
          </a:p>
        </p:txBody>
      </p:sp>
      <p:sp>
        <p:nvSpPr>
          <p:cNvPr id="17" name="Stat 5 label"/>
          <p:cNvSpPr txBox="1"/>
          <p:nvPr/>
        </p:nvSpPr>
        <p:spPr>
          <a:xfrm>
            <a:off x="731520" y="523951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ICD-10-CM symptom codes</a:t>
            </a:r>
            <a:endParaRPr lang="en-US" sz="1200" dirty="0"/>
          </a:p>
        </p:txBody>
      </p:sp>
      <p:sp>
        <p:nvSpPr>
          <p:cNvPr id="18" name="Stat 6 card"/>
          <p:cNvSpPr/>
          <p:nvPr/>
        </p:nvSpPr>
        <p:spPr>
          <a:xfrm>
            <a:off x="3246120" y="4526280"/>
            <a:ext cx="25146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9" name="Stat 6 number"/>
          <p:cNvSpPr txBox="1"/>
          <p:nvPr/>
        </p:nvSpPr>
        <p:spPr>
          <a:xfrm>
            <a:off x="3429000" y="463600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90</a:t>
            </a:r>
            <a:endParaRPr lang="en-US" sz="3600" dirty="0"/>
          </a:p>
        </p:txBody>
      </p:sp>
      <p:sp>
        <p:nvSpPr>
          <p:cNvPr id="20" name="Stat 6 label"/>
          <p:cNvSpPr txBox="1"/>
          <p:nvPr/>
        </p:nvSpPr>
        <p:spPr>
          <a:xfrm>
            <a:off x="3429000" y="523951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reference entries: kit drugs (FDA labels) and terms</a:t>
            </a:r>
            <a:endParaRPr lang="en-US" sz="1200" dirty="0"/>
          </a:p>
        </p:txBody>
      </p:sp>
      <p:graphicFrame>
        <p:nvGraphicFramePr>
          <p:cNvPr id="21" name="Chart conditions by environment" descr=""/>
          <p:cNvGraphicFramePr/>
          <p:nvPr/>
        </p:nvGraphicFramePr>
        <p:xfrm>
          <a:off x="6172200" y="1325880"/>
          <a:ext cx="5440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ources"/>
          <p:cNvSpPr txBox="1"/>
          <p:nvPr/>
        </p:nvSpPr>
        <p:spPr>
          <a:xfrm>
            <a:off x="6172200" y="589788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Sources: NASA Integrated Medical Model (CLiFFs, DRMs, kit lists); ICD-10-CM; FDA labeling via DailyMed.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Each scenario runs up to 12 times, in 5 settings</a:t>
            </a:r>
            <a:endParaRPr lang="en-US" sz="3400" dirty="0"/>
          </a:p>
        </p:txBody>
      </p:sp>
      <p:sp>
        <p:nvSpPr>
          <p:cNvPr id="3" name="Runs heading"/>
          <p:cNvSpPr txBox="1"/>
          <p:nvPr/>
        </p:nvSpPr>
        <p:spPr>
          <a:xfrm>
            <a:off x="548640" y="13258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Default batch per scenario</a:t>
            </a:r>
            <a:endParaRPr lang="en-US" sz="1700" dirty="0"/>
          </a:p>
        </p:txBody>
      </p:sp>
      <p:sp>
        <p:nvSpPr>
          <p:cNvPr id="4" name="Runs subheading"/>
          <p:cNvSpPr txBox="1"/>
          <p:nvPr/>
        </p:nvSpPr>
        <p:spPr>
          <a:xfrm>
            <a:off x="548640" y="170992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Environments where the condition can't occur are skipped.</a:t>
            </a:r>
            <a:endParaRPr lang="en-US" sz="1300" dirty="0"/>
          </a:p>
        </p:txBody>
      </p:sp>
      <p:sp>
        <p:nvSpPr>
          <p:cNvPr id="5" name="Env 1"/>
          <p:cNvSpPr txBox="1"/>
          <p:nvPr/>
        </p:nvSpPr>
        <p:spPr>
          <a:xfrm>
            <a:off x="173736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Low Earth orbit</a:t>
            </a:r>
            <a:endParaRPr lang="en-US" sz="1200" dirty="0"/>
          </a:p>
        </p:txBody>
      </p:sp>
      <p:sp>
        <p:nvSpPr>
          <p:cNvPr id="6" name="Env 2"/>
          <p:cNvSpPr txBox="1"/>
          <p:nvPr/>
        </p:nvSpPr>
        <p:spPr>
          <a:xfrm>
            <a:off x="2724912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Cislunar space</a:t>
            </a:r>
            <a:endParaRPr lang="en-US" sz="1200" dirty="0"/>
          </a:p>
        </p:txBody>
      </p:sp>
      <p:sp>
        <p:nvSpPr>
          <p:cNvPr id="7" name="Env 3"/>
          <p:cNvSpPr txBox="1"/>
          <p:nvPr/>
        </p:nvSpPr>
        <p:spPr>
          <a:xfrm>
            <a:off x="3712464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Lunar surface</a:t>
            </a:r>
            <a:endParaRPr lang="en-US" sz="1200" dirty="0"/>
          </a:p>
        </p:txBody>
      </p:sp>
      <p:sp>
        <p:nvSpPr>
          <p:cNvPr id="8" name="Env 4"/>
          <p:cNvSpPr txBox="1"/>
          <p:nvPr/>
        </p:nvSpPr>
        <p:spPr>
          <a:xfrm>
            <a:off x="4700016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Mars transit</a:t>
            </a:r>
            <a:endParaRPr lang="en-US" sz="1200" dirty="0"/>
          </a:p>
        </p:txBody>
      </p:sp>
      <p:sp>
        <p:nvSpPr>
          <p:cNvPr id="9" name="Env 5"/>
          <p:cNvSpPr txBox="1"/>
          <p:nvPr/>
        </p:nvSpPr>
        <p:spPr>
          <a:xfrm>
            <a:off x="5687568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Mars surface</a:t>
            </a:r>
            <a:endParaRPr lang="en-US" sz="1200" dirty="0"/>
          </a:p>
        </p:txBody>
      </p:sp>
      <p:sp>
        <p:nvSpPr>
          <p:cNvPr id="10" name="Course 1"/>
          <p:cNvSpPr txBox="1"/>
          <p:nvPr/>
        </p:nvSpPr>
        <p:spPr>
          <a:xfrm>
            <a:off x="548640" y="2651760"/>
            <a:ext cx="1143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Best course</a:t>
            </a:r>
            <a:endParaRPr lang="en-US" sz="1400" dirty="0"/>
          </a:p>
        </p:txBody>
      </p:sp>
      <p:sp>
        <p:nvSpPr>
          <p:cNvPr id="11" name="Run 1"/>
          <p:cNvSpPr/>
          <p:nvPr/>
        </p:nvSpPr>
        <p:spPr>
          <a:xfrm>
            <a:off x="1737360" y="2651760"/>
            <a:ext cx="914400" cy="749808"/>
          </a:xfrm>
          <a:prstGeom prst="roundRect">
            <a:avLst>
              <a:gd name="adj" fmla="val 975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Run 1</a:t>
            </a:r>
            <a:endParaRPr lang="en-US" sz="1400" dirty="0"/>
          </a:p>
        </p:txBody>
      </p:sp>
      <p:sp>
        <p:nvSpPr>
          <p:cNvPr id="12" name="Run 2"/>
          <p:cNvSpPr/>
          <p:nvPr/>
        </p:nvSpPr>
        <p:spPr>
          <a:xfrm>
            <a:off x="2724912" y="2651760"/>
            <a:ext cx="914400" cy="749808"/>
          </a:xfrm>
          <a:prstGeom prst="roundRect">
            <a:avLst>
              <a:gd name="adj" fmla="val 975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Run 2</a:t>
            </a:r>
            <a:endParaRPr lang="en-US" sz="1400" dirty="0"/>
          </a:p>
        </p:txBody>
      </p:sp>
      <p:sp>
        <p:nvSpPr>
          <p:cNvPr id="13" name="Run 3"/>
          <p:cNvSpPr/>
          <p:nvPr/>
        </p:nvSpPr>
        <p:spPr>
          <a:xfrm>
            <a:off x="3712464" y="2651760"/>
            <a:ext cx="914400" cy="749808"/>
          </a:xfrm>
          <a:prstGeom prst="roundRect">
            <a:avLst>
              <a:gd name="adj" fmla="val 975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Run 3</a:t>
            </a:r>
            <a:endParaRPr lang="en-US" sz="1400" dirty="0"/>
          </a:p>
        </p:txBody>
      </p:sp>
      <p:sp>
        <p:nvSpPr>
          <p:cNvPr id="14" name="Run 4"/>
          <p:cNvSpPr/>
          <p:nvPr/>
        </p:nvSpPr>
        <p:spPr>
          <a:xfrm>
            <a:off x="4700016" y="2651760"/>
            <a:ext cx="914400" cy="749808"/>
          </a:xfrm>
          <a:prstGeom prst="roundRect">
            <a:avLst>
              <a:gd name="adj" fmla="val 975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Run 4</a:t>
            </a:r>
            <a:endParaRPr lang="en-US" sz="1400" dirty="0"/>
          </a:p>
        </p:txBody>
      </p:sp>
      <p:sp>
        <p:nvSpPr>
          <p:cNvPr id="15" name="Run 5"/>
          <p:cNvSpPr/>
          <p:nvPr/>
        </p:nvSpPr>
        <p:spPr>
          <a:xfrm>
            <a:off x="5687568" y="2651760"/>
            <a:ext cx="914400" cy="749808"/>
          </a:xfrm>
          <a:prstGeom prst="roundRect">
            <a:avLst>
              <a:gd name="adj" fmla="val 975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Run 5</a:t>
            </a:r>
            <a:endParaRPr lang="en-US" sz="1400" dirty="0"/>
          </a:p>
        </p:txBody>
      </p:sp>
      <p:sp>
        <p:nvSpPr>
          <p:cNvPr id="16" name="Course 2"/>
          <p:cNvSpPr txBox="1"/>
          <p:nvPr/>
        </p:nvSpPr>
        <p:spPr>
          <a:xfrm>
            <a:off x="548640" y="3520440"/>
            <a:ext cx="1143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Worst course</a:t>
            </a:r>
            <a:endParaRPr lang="en-US" sz="1400" dirty="0"/>
          </a:p>
        </p:txBody>
      </p:sp>
      <p:sp>
        <p:nvSpPr>
          <p:cNvPr id="17" name="Run 6"/>
          <p:cNvSpPr/>
          <p:nvPr/>
        </p:nvSpPr>
        <p:spPr>
          <a:xfrm>
            <a:off x="1737360" y="3520440"/>
            <a:ext cx="914400" cy="749808"/>
          </a:xfrm>
          <a:prstGeom prst="roundRect">
            <a:avLst>
              <a:gd name="adj" fmla="val 975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Run 6</a:t>
            </a:r>
            <a:endParaRPr lang="en-US" sz="1400" dirty="0"/>
          </a:p>
        </p:txBody>
      </p:sp>
      <p:sp>
        <p:nvSpPr>
          <p:cNvPr id="18" name="Run 7"/>
          <p:cNvSpPr/>
          <p:nvPr/>
        </p:nvSpPr>
        <p:spPr>
          <a:xfrm>
            <a:off x="2724912" y="3520440"/>
            <a:ext cx="914400" cy="749808"/>
          </a:xfrm>
          <a:prstGeom prst="roundRect">
            <a:avLst>
              <a:gd name="adj" fmla="val 975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Run 7</a:t>
            </a:r>
            <a:endParaRPr lang="en-US" sz="1400" dirty="0"/>
          </a:p>
        </p:txBody>
      </p:sp>
      <p:sp>
        <p:nvSpPr>
          <p:cNvPr id="19" name="Run 8"/>
          <p:cNvSpPr/>
          <p:nvPr/>
        </p:nvSpPr>
        <p:spPr>
          <a:xfrm>
            <a:off x="3712464" y="3520440"/>
            <a:ext cx="914400" cy="749808"/>
          </a:xfrm>
          <a:prstGeom prst="roundRect">
            <a:avLst>
              <a:gd name="adj" fmla="val 975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Run 8</a:t>
            </a:r>
            <a:endParaRPr lang="en-US" sz="1400" dirty="0"/>
          </a:p>
        </p:txBody>
      </p:sp>
      <p:sp>
        <p:nvSpPr>
          <p:cNvPr id="20" name="Run 9"/>
          <p:cNvSpPr/>
          <p:nvPr/>
        </p:nvSpPr>
        <p:spPr>
          <a:xfrm>
            <a:off x="4700016" y="3520440"/>
            <a:ext cx="914400" cy="749808"/>
          </a:xfrm>
          <a:prstGeom prst="roundRect">
            <a:avLst>
              <a:gd name="adj" fmla="val 975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Run 9</a:t>
            </a:r>
            <a:endParaRPr lang="en-US" sz="1400" dirty="0"/>
          </a:p>
        </p:txBody>
      </p:sp>
      <p:sp>
        <p:nvSpPr>
          <p:cNvPr id="21" name="Run 10"/>
          <p:cNvSpPr/>
          <p:nvPr/>
        </p:nvSpPr>
        <p:spPr>
          <a:xfrm>
            <a:off x="5687568" y="3520440"/>
            <a:ext cx="914400" cy="749808"/>
          </a:xfrm>
          <a:prstGeom prst="roundRect">
            <a:avLst>
              <a:gd name="adj" fmla="val 975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Run 10</a:t>
            </a:r>
            <a:endParaRPr lang="en-US" sz="1400" dirty="0"/>
          </a:p>
        </p:txBody>
      </p:sp>
      <p:sp>
        <p:nvSpPr>
          <p:cNvPr id="22" name="Course 3"/>
          <p:cNvSpPr txBox="1"/>
          <p:nvPr/>
        </p:nvSpPr>
        <p:spPr>
          <a:xfrm>
            <a:off x="548640" y="4389120"/>
            <a:ext cx="1143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CLiFF odds</a:t>
            </a:r>
            <a:endParaRPr lang="en-US" sz="1400" dirty="0"/>
          </a:p>
        </p:txBody>
      </p:sp>
      <p:sp>
        <p:nvSpPr>
          <p:cNvPr id="23" name="Run 11"/>
          <p:cNvSpPr/>
          <p:nvPr/>
        </p:nvSpPr>
        <p:spPr>
          <a:xfrm>
            <a:off x="1737360" y="4389120"/>
            <a:ext cx="2395728" cy="749808"/>
          </a:xfrm>
          <a:prstGeom prst="roundRect">
            <a:avLst>
              <a:gd name="adj" fmla="val 975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Run 11</a:t>
            </a:r>
            <a:endParaRPr lang="en-US" sz="1400" dirty="0"/>
          </a:p>
        </p:txBody>
      </p:sp>
      <p:sp>
        <p:nvSpPr>
          <p:cNvPr id="24" name="Run 12"/>
          <p:cNvSpPr/>
          <p:nvPr/>
        </p:nvSpPr>
        <p:spPr>
          <a:xfrm>
            <a:off x="4206240" y="4389120"/>
            <a:ext cx="2395728" cy="749808"/>
          </a:xfrm>
          <a:prstGeom prst="roundRect">
            <a:avLst>
              <a:gd name="adj" fmla="val 975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Run 12</a:t>
            </a:r>
            <a:endParaRPr lang="en-US" sz="1400" dirty="0"/>
          </a:p>
        </p:txBody>
      </p:sp>
      <p:sp>
        <p:nvSpPr>
          <p:cNvPr id="25" name="Clock circle"/>
          <p:cNvSpPr/>
          <p:nvPr/>
        </p:nvSpPr>
        <p:spPr>
          <a:xfrm>
            <a:off x="548640" y="544068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6" name="Clock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462" y="5613502"/>
            <a:ext cx="294437" cy="294437"/>
          </a:xfrm>
          <a:prstGeom prst="rect">
            <a:avLst/>
          </a:prstGeom>
        </p:spPr>
      </p:pic>
      <p:sp>
        <p:nvSpPr>
          <p:cNvPr id="27" name="Clock note"/>
          <p:cNvSpPr txBox="1"/>
          <p:nvPr/>
        </p:nvSpPr>
        <p:spPr>
          <a:xfrm>
            <a:off x="1371600" y="53492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clock jumps ahead when nothing is happening, so a 10-day antibiotic course runs in seconds. Every run can be replayed exactly.</a:t>
            </a:r>
            <a:endParaRPr lang="en-US" sz="1400" dirty="0"/>
          </a:p>
        </p:txBody>
      </p:sp>
      <p:graphicFrame>
        <p:nvGraphicFramePr>
          <p:cNvPr id="28" name="Chart kit by vehicle" descr=""/>
          <p:cNvGraphicFramePr/>
          <p:nvPr/>
        </p:nvGraphicFramePr>
        <p:xfrm>
          <a:off x="6903720" y="1325880"/>
          <a:ext cx="47091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Kit note"/>
          <p:cNvSpPr txBox="1"/>
          <p:nvPr/>
        </p:nvSpPr>
        <p:spPr>
          <a:xfrm>
            <a:off x="6903720" y="539496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lunar surface has the smallest kit. An item that needs equipment not aboard is scored not applicable, not failed.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Four layers of scoring, reported side by side</a:t>
            </a:r>
            <a:endParaRPr lang="en-US" sz="3400" dirty="0"/>
          </a:p>
        </p:txBody>
      </p:sp>
      <p:sp>
        <p:nvSpPr>
          <p:cNvPr id="3" name="Layer A card"/>
          <p:cNvSpPr/>
          <p:nvPr/>
        </p:nvSpPr>
        <p:spPr>
          <a:xfrm>
            <a:off x="548640" y="1371600"/>
            <a:ext cx="539496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4" name="Layer A badge"/>
          <p:cNvSpPr/>
          <p:nvPr/>
        </p:nvSpPr>
        <p:spPr>
          <a:xfrm>
            <a:off x="777240" y="160934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</a:t>
            </a:r>
            <a:endParaRPr lang="en-US" sz="1800" dirty="0"/>
          </a:p>
        </p:txBody>
      </p:sp>
      <p:sp>
        <p:nvSpPr>
          <p:cNvPr id="5" name="Layer A title"/>
          <p:cNvSpPr txBox="1"/>
          <p:nvPr/>
        </p:nvSpPr>
        <p:spPr>
          <a:xfrm>
            <a:off x="1554480" y="15270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Critical errors</a:t>
            </a:r>
            <a:endParaRPr lang="en-US" sz="1800" dirty="0"/>
          </a:p>
        </p:txBody>
      </p:sp>
      <p:sp>
        <p:nvSpPr>
          <p:cNvPr id="6" name="Layer A text"/>
          <p:cNvSpPr txBox="1"/>
          <p:nvPr/>
        </p:nvSpPr>
        <p:spPr>
          <a:xfrm>
            <a:off x="1554480" y="19019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Never events. Any one fails the run.</a:t>
            </a:r>
            <a:endParaRPr lang="en-US" sz="1500" dirty="0"/>
          </a:p>
        </p:txBody>
      </p:sp>
      <p:sp>
        <p:nvSpPr>
          <p:cNvPr id="7" name="Layer B card"/>
          <p:cNvSpPr/>
          <p:nvPr/>
        </p:nvSpPr>
        <p:spPr>
          <a:xfrm>
            <a:off x="548640" y="2560320"/>
            <a:ext cx="539496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8" name="Layer B badge"/>
          <p:cNvSpPr/>
          <p:nvPr/>
        </p:nvSpPr>
        <p:spPr>
          <a:xfrm>
            <a:off x="777240" y="2798064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</a:t>
            </a:r>
            <a:endParaRPr lang="en-US" sz="1800" dirty="0"/>
          </a:p>
        </p:txBody>
      </p:sp>
      <p:sp>
        <p:nvSpPr>
          <p:cNvPr id="9" name="Layer B title"/>
          <p:cNvSpPr txBox="1"/>
          <p:nvPr/>
        </p:nvSpPr>
        <p:spPr>
          <a:xfrm>
            <a:off x="1554480" y="2715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Checklist</a:t>
            </a:r>
            <a:endParaRPr lang="en-US" sz="1800" dirty="0"/>
          </a:p>
        </p:txBody>
      </p:sp>
      <p:sp>
        <p:nvSpPr>
          <p:cNvPr id="10" name="Layer B text"/>
          <p:cNvSpPr txBox="1"/>
          <p:nvPr/>
        </p:nvSpPr>
        <p:spPr>
          <a:xfrm>
            <a:off x="1554480" y="30906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Observable actions, weighted −10 to +10.</a:t>
            </a:r>
            <a:endParaRPr lang="en-US" sz="1500" dirty="0"/>
          </a:p>
        </p:txBody>
      </p:sp>
      <p:sp>
        <p:nvSpPr>
          <p:cNvPr id="11" name="Layer C card"/>
          <p:cNvSpPr/>
          <p:nvPr/>
        </p:nvSpPr>
        <p:spPr>
          <a:xfrm>
            <a:off x="548640" y="3749040"/>
            <a:ext cx="539496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2" name="Layer C badge"/>
          <p:cNvSpPr/>
          <p:nvPr/>
        </p:nvSpPr>
        <p:spPr>
          <a:xfrm>
            <a:off x="777240" y="3986784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</a:t>
            </a:r>
            <a:endParaRPr lang="en-US" sz="1800" dirty="0"/>
          </a:p>
        </p:txBody>
      </p:sp>
      <p:sp>
        <p:nvSpPr>
          <p:cNvPr id="13" name="Layer C title"/>
          <p:cNvSpPr txBox="1"/>
          <p:nvPr/>
        </p:nvSpPr>
        <p:spPr>
          <a:xfrm>
            <a:off x="1554480" y="39044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Global ratings</a:t>
            </a:r>
            <a:endParaRPr lang="en-US" sz="1800" dirty="0"/>
          </a:p>
        </p:txBody>
      </p:sp>
      <p:sp>
        <p:nvSpPr>
          <p:cNvPr id="14" name="Layer C text"/>
          <p:cNvSpPr txBox="1"/>
          <p:nvPr/>
        </p:nvSpPr>
        <p:spPr>
          <a:xfrm>
            <a:off x="1554480" y="42793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Six domains, each rated 1–5.</a:t>
            </a:r>
            <a:endParaRPr lang="en-US" sz="1500" dirty="0"/>
          </a:p>
        </p:txBody>
      </p:sp>
      <p:sp>
        <p:nvSpPr>
          <p:cNvPr id="15" name="Layer D card"/>
          <p:cNvSpPr/>
          <p:nvPr/>
        </p:nvSpPr>
        <p:spPr>
          <a:xfrm>
            <a:off x="548640" y="4937760"/>
            <a:ext cx="539496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6" name="Layer D badge"/>
          <p:cNvSpPr/>
          <p:nvPr/>
        </p:nvSpPr>
        <p:spPr>
          <a:xfrm>
            <a:off x="777240" y="5175504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Layer D title"/>
          <p:cNvSpPr txBox="1"/>
          <p:nvPr/>
        </p:nvSpPr>
        <p:spPr>
          <a:xfrm>
            <a:off x="1554480" y="50932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Outcome</a:t>
            </a:r>
            <a:endParaRPr lang="en-US" sz="1800" dirty="0"/>
          </a:p>
        </p:txBody>
      </p:sp>
      <p:sp>
        <p:nvSpPr>
          <p:cNvPr id="18" name="Layer D text"/>
          <p:cNvSpPr txBox="1"/>
          <p:nvPr/>
        </p:nvSpPr>
        <p:spPr>
          <a:xfrm>
            <a:off x="1554480" y="54681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How the simulated patient did.</a:t>
            </a:r>
            <a:endParaRPr lang="en-US" sz="1500" dirty="0"/>
          </a:p>
        </p:txBody>
      </p:sp>
      <p:graphicFrame>
        <p:nvGraphicFramePr>
          <p:cNvPr id="19" name="Chart weight by domain" descr=""/>
          <p:cNvGraphicFramePr/>
          <p:nvPr/>
        </p:nvGraphicFramePr>
        <p:xfrm>
          <a:off x="6309360" y="1325880"/>
          <a:ext cx="5303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coring note"/>
          <p:cNvSpPr txBox="1"/>
          <p:nvPr/>
        </p:nvSpPr>
        <p:spPr>
          <a:xfrm>
            <a:off x="6309360" y="56235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Scored item by item, with evidence. Outlier runs are flagged, not averaged away.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Worked example: appendicitis, 8 hours to act</a:t>
            </a:r>
            <a:endParaRPr lang="en-US" sz="3400" dirty="0"/>
          </a:p>
        </p:txBody>
      </p:sp>
      <p:sp>
        <p:nvSpPr>
          <p:cNvPr id="3" name="Scenario card"/>
          <p:cNvSpPr/>
          <p:nvPr/>
        </p:nvSpPr>
        <p:spPr>
          <a:xfrm>
            <a:off x="548640" y="1371600"/>
            <a:ext cx="53949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4" name="Patient circle"/>
          <p:cNvSpPr/>
          <p:nvPr/>
        </p:nvSpPr>
        <p:spPr>
          <a:xfrm>
            <a:off x="777240" y="1572768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Patien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1794967"/>
            <a:ext cx="378562" cy="378562"/>
          </a:xfrm>
          <a:prstGeom prst="rect">
            <a:avLst/>
          </a:prstGeom>
        </p:spPr>
      </p:pic>
      <p:sp>
        <p:nvSpPr>
          <p:cNvPr id="6" name="Scenario summary"/>
          <p:cNvSpPr txBox="1"/>
          <p:nvPr/>
        </p:nvSpPr>
        <p:spPr>
          <a:xfrm>
            <a:off x="1783080" y="1536192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Kenji Arakawa, 45 (synthetic crewmember)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Presented by a non-physician CMO who omits details unless asked. Penicillin allergy.</a:t>
            </a:r>
            <a:endParaRPr lang="en-US" sz="1400" dirty="0"/>
          </a:p>
        </p:txBody>
      </p:sp>
      <p:sp>
        <p:nvSpPr>
          <p:cNvPr id="7" name="Timeline axis"/>
          <p:cNvSpPr/>
          <p:nvPr/>
        </p:nvSpPr>
        <p:spPr>
          <a:xfrm>
            <a:off x="1417320" y="3017520"/>
            <a:ext cx="0" cy="297180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8" name="Event 1 dot"/>
          <p:cNvSpPr/>
          <p:nvPr/>
        </p:nvSpPr>
        <p:spPr>
          <a:xfrm>
            <a:off x="1307592" y="2999232"/>
            <a:ext cx="219456" cy="219456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" name="Event 1 time"/>
          <p:cNvSpPr txBox="1"/>
          <p:nvPr/>
        </p:nvSpPr>
        <p:spPr>
          <a:xfrm>
            <a:off x="548640" y="28803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T+0</a:t>
            </a:r>
            <a:endParaRPr lang="en-US" sz="1400" dirty="0"/>
          </a:p>
        </p:txBody>
      </p:sp>
      <p:sp>
        <p:nvSpPr>
          <p:cNvPr id="10" name="Event 1 text"/>
          <p:cNvSpPr txBox="1"/>
          <p:nvPr/>
        </p:nvSpPr>
        <p:spPr>
          <a:xfrm>
            <a:off x="1737360" y="2880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Periumbilical pain and anorexia; patient blames food</a:t>
            </a:r>
            <a:endParaRPr lang="en-US" sz="1400" dirty="0"/>
          </a:p>
        </p:txBody>
      </p:sp>
      <p:sp>
        <p:nvSpPr>
          <p:cNvPr id="11" name="Event 2 dot"/>
          <p:cNvSpPr/>
          <p:nvPr/>
        </p:nvSpPr>
        <p:spPr>
          <a:xfrm>
            <a:off x="1307592" y="3666744"/>
            <a:ext cx="219456" cy="219456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Event 2 time"/>
          <p:cNvSpPr txBox="1"/>
          <p:nvPr/>
        </p:nvSpPr>
        <p:spPr>
          <a:xfrm>
            <a:off x="548640" y="354787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T+6h</a:t>
            </a:r>
            <a:endParaRPr lang="en-US" sz="1400" dirty="0"/>
          </a:p>
        </p:txBody>
      </p:sp>
      <p:sp>
        <p:nvSpPr>
          <p:cNvPr id="13" name="Event 2 text"/>
          <p:cNvSpPr txBox="1"/>
          <p:nvPr/>
        </p:nvSpPr>
        <p:spPr>
          <a:xfrm>
            <a:off x="1737360" y="35478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Pain migrates to the right lower quadrant</a:t>
            </a:r>
            <a:endParaRPr lang="en-US" sz="1400" dirty="0"/>
          </a:p>
        </p:txBody>
      </p:sp>
      <p:sp>
        <p:nvSpPr>
          <p:cNvPr id="14" name="Event 3 dot"/>
          <p:cNvSpPr/>
          <p:nvPr/>
        </p:nvSpPr>
        <p:spPr>
          <a:xfrm>
            <a:off x="1307592" y="4334256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Event 3 time"/>
          <p:cNvSpPr txBox="1"/>
          <p:nvPr/>
        </p:nvSpPr>
        <p:spPr>
          <a:xfrm>
            <a:off x="548640" y="421538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T+8h</a:t>
            </a:r>
            <a:endParaRPr lang="en-US" sz="1400" dirty="0"/>
          </a:p>
        </p:txBody>
      </p:sp>
      <p:sp>
        <p:nvSpPr>
          <p:cNvPr id="16" name="Event 3 text"/>
          <p:cNvSpPr txBox="1"/>
          <p:nvPr/>
        </p:nvSpPr>
        <p:spPr>
          <a:xfrm>
            <a:off x="1737360" y="42153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Deadline: antibiotics with enteric coverage</a:t>
            </a:r>
            <a:endParaRPr lang="en-US" sz="1400" dirty="0"/>
          </a:p>
        </p:txBody>
      </p:sp>
      <p:sp>
        <p:nvSpPr>
          <p:cNvPr id="17" name="Event 4 dot"/>
          <p:cNvSpPr/>
          <p:nvPr/>
        </p:nvSpPr>
        <p:spPr>
          <a:xfrm>
            <a:off x="1307592" y="5001768"/>
            <a:ext cx="219456" cy="21945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Event 4 time"/>
          <p:cNvSpPr txBox="1"/>
          <p:nvPr/>
        </p:nvSpPr>
        <p:spPr>
          <a:xfrm>
            <a:off x="548640" y="488289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T+36h</a:t>
            </a:r>
            <a:endParaRPr lang="en-US" sz="1400" dirty="0"/>
          </a:p>
        </p:txBody>
      </p:sp>
      <p:sp>
        <p:nvSpPr>
          <p:cNvPr id="19" name="Event 4 text"/>
          <p:cNvSpPr txBox="1"/>
          <p:nvPr/>
        </p:nvSpPr>
        <p:spPr>
          <a:xfrm>
            <a:off x="1737360" y="488289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Complication event if untreated: perforation and peritonitis</a:t>
            </a:r>
            <a:endParaRPr lang="en-US" sz="1400" dirty="0"/>
          </a:p>
        </p:txBody>
      </p:sp>
      <p:sp>
        <p:nvSpPr>
          <p:cNvPr id="20" name="Event 5 dot"/>
          <p:cNvSpPr/>
          <p:nvPr/>
        </p:nvSpPr>
        <p:spPr>
          <a:xfrm>
            <a:off x="1307592" y="5669280"/>
            <a:ext cx="219456" cy="219456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1" name="Event 5 time"/>
          <p:cNvSpPr txBox="1"/>
          <p:nvPr/>
        </p:nvSpPr>
        <p:spPr>
          <a:xfrm>
            <a:off x="548640" y="555040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T+4d</a:t>
            </a:r>
            <a:endParaRPr lang="en-US" sz="1400" dirty="0"/>
          </a:p>
        </p:txBody>
      </p:sp>
      <p:sp>
        <p:nvSpPr>
          <p:cNvPr id="22" name="Event 5 text"/>
          <p:cNvSpPr txBox="1"/>
          <p:nvPr/>
        </p:nvSpPr>
        <p:spPr>
          <a:xfrm>
            <a:off x="1737360" y="55504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Scenario ends; outcome recorded from the twin</a:t>
            </a:r>
            <a:endParaRPr lang="en-US" sz="1400" dirty="0"/>
          </a:p>
        </p:txBody>
      </p:sp>
      <p:graphicFrame>
        <p:nvGraphicFramePr>
          <p:cNvPr id="23" name="Chart LOCL" descr=""/>
          <p:cNvGraphicFramePr/>
          <p:nvPr/>
        </p:nvGraphicFramePr>
        <p:xfrm>
          <a:off x="6309360" y="132588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Example note"/>
          <p:cNvSpPr txBox="1"/>
          <p:nvPr/>
        </p:nvSpPr>
        <p:spPr>
          <a:xfrm>
            <a:off x="6309360" y="53949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Scored on 19 checklist items plus the standard items, in every run. Values from the appendicitis CLiFF; pending physiologist review.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Plan of work: six phases, authoring to reports</a:t>
            </a:r>
            <a:endParaRPr lang="en-US" sz="3400" dirty="0"/>
          </a:p>
        </p:txBody>
      </p:sp>
      <p:graphicFrame>
        <p:nvGraphicFramePr>
          <p:cNvPr id="9" name="Plan of wor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4251960"/>
                <a:gridCol w="3291840"/>
                <a:gridCol w="1005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Phase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What it builds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Done when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Status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A 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Scenario authoring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File formats and validator; NASA library; Scenario Builder; clerk guide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A clerk with no briefing builds a valid scenario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Built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A5–A7 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Authoring, round 2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Second clerk round; multi-patient and triage scenarios; manual scoring sheet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Form revised from round 2; clinical lead agrees triage rules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Next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B 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Runner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Adapter for any assistant; MCP tools; AI crewmember; up to 12 runs per scenario on a simple twin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One scenario runs end to end on the laptop overnight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Planned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 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Scoring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Per-run scorer; judge across runs; viewer that opens each anomaly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Judge report with working links to the evidence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Planned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D 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Digital twin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CLiFF course model; drug effects; complication events; simulated clock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Outcomes over many runs match the CLiFF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Planned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E 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Reports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Medical and technical reports; scorer checked against clerk scoring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Scorer–clerk agreement reported per item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Planned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Plan note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B and C run on a simple, static twin first, so scoring can be tested early; D then swaps in the full physiology model.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What we need to keep moving</a:t>
            </a:r>
            <a:endParaRPr lang="en-US" sz="3400" dirty="0"/>
          </a:p>
        </p:txBody>
      </p:sp>
      <p:sp>
        <p:nvSpPr>
          <p:cNvPr id="3" name="Ask 1 card"/>
          <p:cNvSpPr/>
          <p:nvPr/>
        </p:nvSpPr>
        <p:spPr>
          <a:xfrm>
            <a:off x="548640" y="1463040"/>
            <a:ext cx="2651760" cy="3154680"/>
          </a:xfrm>
          <a:prstGeom prst="roundRect">
            <a:avLst>
              <a:gd name="adj" fmla="val 2759"/>
            </a:avLst>
          </a:prstGeom>
          <a:solidFill>
            <a:schemeClr val="accent6"/>
          </a:solidFill>
          <a:ln/>
        </p:spPr>
      </p:sp>
      <p:sp>
        <p:nvSpPr>
          <p:cNvPr id="4" name="Ask 1 circle"/>
          <p:cNvSpPr/>
          <p:nvPr/>
        </p:nvSpPr>
        <p:spPr>
          <a:xfrm>
            <a:off x="822960" y="178308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Ask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504" y="2017624"/>
            <a:ext cx="399593" cy="399593"/>
          </a:xfrm>
          <a:prstGeom prst="rect">
            <a:avLst/>
          </a:prstGeom>
        </p:spPr>
      </p:pic>
      <p:sp>
        <p:nvSpPr>
          <p:cNvPr id="6" name="Ask 1 title"/>
          <p:cNvSpPr txBox="1"/>
          <p:nvPr/>
        </p:nvSpPr>
        <p:spPr>
          <a:xfrm>
            <a:off x="822960" y="28803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Clerks</a:t>
            </a:r>
            <a:endParaRPr lang="en-US" sz="1900" dirty="0"/>
          </a:p>
        </p:txBody>
      </p:sp>
      <p:sp>
        <p:nvSpPr>
          <p:cNvPr id="7" name="Ask 1 text"/>
          <p:cNvSpPr txBox="1"/>
          <p:nvPr/>
        </p:nvSpPr>
        <p:spPr>
          <a:xfrm>
            <a:off x="822960" y="33832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A second round of scenarios on the Scenario Builder, with time per scenario recorded</a:t>
            </a:r>
            <a:endParaRPr lang="en-US" sz="1500" dirty="0"/>
          </a:p>
        </p:txBody>
      </p:sp>
      <p:sp>
        <p:nvSpPr>
          <p:cNvPr id="8" name="Ask 2 card"/>
          <p:cNvSpPr/>
          <p:nvPr/>
        </p:nvSpPr>
        <p:spPr>
          <a:xfrm>
            <a:off x="3383280" y="1463040"/>
            <a:ext cx="2651760" cy="3154680"/>
          </a:xfrm>
          <a:prstGeom prst="roundRect">
            <a:avLst>
              <a:gd name="adj" fmla="val 2759"/>
            </a:avLst>
          </a:prstGeom>
          <a:solidFill>
            <a:schemeClr val="accent6"/>
          </a:solidFill>
          <a:ln/>
        </p:spPr>
      </p:sp>
      <p:sp>
        <p:nvSpPr>
          <p:cNvPr id="9" name="Ask 2 circle"/>
          <p:cNvSpPr/>
          <p:nvPr/>
        </p:nvSpPr>
        <p:spPr>
          <a:xfrm>
            <a:off x="3657600" y="178308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Ask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2144" y="2017624"/>
            <a:ext cx="399593" cy="399593"/>
          </a:xfrm>
          <a:prstGeom prst="rect">
            <a:avLst/>
          </a:prstGeom>
        </p:spPr>
      </p:pic>
      <p:sp>
        <p:nvSpPr>
          <p:cNvPr id="11" name="Ask 2 title"/>
          <p:cNvSpPr txBox="1"/>
          <p:nvPr/>
        </p:nvSpPr>
        <p:spPr>
          <a:xfrm>
            <a:off x="3657600" y="28803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Clinical lead</a:t>
            </a:r>
            <a:endParaRPr lang="en-US" sz="1900" dirty="0"/>
          </a:p>
        </p:txBody>
      </p:sp>
      <p:sp>
        <p:nvSpPr>
          <p:cNvPr id="12" name="Ask 2 text"/>
          <p:cNvSpPr txBox="1"/>
          <p:nvPr/>
        </p:nvSpPr>
        <p:spPr>
          <a:xfrm>
            <a:off x="3657600" y="33832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Review the rubric: critical errors, rating anchors and dose tolerance</a:t>
            </a:r>
            <a:endParaRPr lang="en-US" sz="1500" dirty="0"/>
          </a:p>
        </p:txBody>
      </p:sp>
      <p:sp>
        <p:nvSpPr>
          <p:cNvPr id="13" name="Ask 3 card"/>
          <p:cNvSpPr/>
          <p:nvPr/>
        </p:nvSpPr>
        <p:spPr>
          <a:xfrm>
            <a:off x="6217920" y="1463040"/>
            <a:ext cx="2651760" cy="3154680"/>
          </a:xfrm>
          <a:prstGeom prst="roundRect">
            <a:avLst>
              <a:gd name="adj" fmla="val 2759"/>
            </a:avLst>
          </a:prstGeom>
          <a:solidFill>
            <a:schemeClr val="accent6"/>
          </a:solidFill>
          <a:ln/>
        </p:spPr>
      </p:sp>
      <p:sp>
        <p:nvSpPr>
          <p:cNvPr id="14" name="Ask 3 circle"/>
          <p:cNvSpPr/>
          <p:nvPr/>
        </p:nvSpPr>
        <p:spPr>
          <a:xfrm>
            <a:off x="6492240" y="178308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Ask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6784" y="2017624"/>
            <a:ext cx="399593" cy="399593"/>
          </a:xfrm>
          <a:prstGeom prst="rect">
            <a:avLst/>
          </a:prstGeom>
        </p:spPr>
      </p:pic>
      <p:sp>
        <p:nvSpPr>
          <p:cNvPr id="16" name="Ask 3 title"/>
          <p:cNvSpPr txBox="1"/>
          <p:nvPr/>
        </p:nvSpPr>
        <p:spPr>
          <a:xfrm>
            <a:off x="6492240" y="28803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Physiologist</a:t>
            </a:r>
            <a:endParaRPr lang="en-US" sz="1900" dirty="0"/>
          </a:p>
        </p:txBody>
      </p:sp>
      <p:sp>
        <p:nvSpPr>
          <p:cNvPr id="17" name="Ask 3 text"/>
          <p:cNvSpPr txBox="1"/>
          <p:nvPr/>
        </p:nvSpPr>
        <p:spPr>
          <a:xfrm>
            <a:off x="6492240" y="33832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Check the CLiFF course numbers and the crew baselines</a:t>
            </a:r>
            <a:endParaRPr lang="en-US" sz="1500" dirty="0"/>
          </a:p>
        </p:txBody>
      </p:sp>
      <p:sp>
        <p:nvSpPr>
          <p:cNvPr id="18" name="Ask 4 card"/>
          <p:cNvSpPr/>
          <p:nvPr/>
        </p:nvSpPr>
        <p:spPr>
          <a:xfrm>
            <a:off x="9052560" y="1463040"/>
            <a:ext cx="2651760" cy="3154680"/>
          </a:xfrm>
          <a:prstGeom prst="roundRect">
            <a:avLst>
              <a:gd name="adj" fmla="val 2759"/>
            </a:avLst>
          </a:prstGeom>
          <a:solidFill>
            <a:schemeClr val="accent6"/>
          </a:solidFill>
          <a:ln/>
        </p:spPr>
      </p:sp>
      <p:sp>
        <p:nvSpPr>
          <p:cNvPr id="19" name="Ask 4 circle"/>
          <p:cNvSpPr/>
          <p:nvPr/>
        </p:nvSpPr>
        <p:spPr>
          <a:xfrm>
            <a:off x="9326880" y="178308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Ask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1424" y="2017624"/>
            <a:ext cx="399593" cy="399593"/>
          </a:xfrm>
          <a:prstGeom prst="rect">
            <a:avLst/>
          </a:prstGeom>
        </p:spPr>
      </p:pic>
      <p:sp>
        <p:nvSpPr>
          <p:cNvPr id="21" name="Ask 4 title"/>
          <p:cNvSpPr txBox="1"/>
          <p:nvPr/>
        </p:nvSpPr>
        <p:spPr>
          <a:xfrm>
            <a:off x="9326880" y="28803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CMO-DA team</a:t>
            </a:r>
            <a:endParaRPr lang="en-US" sz="1900" dirty="0"/>
          </a:p>
        </p:txBody>
      </p:sp>
      <p:sp>
        <p:nvSpPr>
          <p:cNvPr id="22" name="Ask 4 text"/>
          <p:cNvSpPr txBox="1"/>
          <p:nvPr/>
        </p:nvSpPr>
        <p:spPr>
          <a:xfrm>
            <a:off x="9326880" y="33832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Share the interface spec before the runner (Phase B) is built</a:t>
            </a:r>
            <a:endParaRPr lang="en-US" sz="1500" dirty="0"/>
          </a:p>
        </p:txBody>
      </p:sp>
      <p:sp>
        <p:nvSpPr>
          <p:cNvPr id="23" name="Closing note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The Scenario Builder is ready for clerks now: one offline file, no install.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Sim Charcoal">
  <a:themeElements>
    <a:clrScheme name="MedSim Charcoal">
      <a:dk1>
        <a:srgbClr val="1F2328"/>
      </a:dk1>
      <a:lt1>
        <a:srgbClr val="FFFFFF"/>
      </a:lt1>
      <a:dk2>
        <a:srgbClr val="2E3A42"/>
      </a:dk2>
      <a:lt2>
        <a:srgbClr val="EDF0F2"/>
      </a:lt2>
      <a:accent1>
        <a:srgbClr val="E07B39"/>
      </a:accent1>
      <a:accent2>
        <a:srgbClr val="8796A3"/>
      </a:accent2>
      <a:accent3>
        <a:srgbClr val="56636D"/>
      </a:accent3>
      <a:accent4>
        <a:srgbClr val="B7C1C9"/>
      </a:accent4>
      <a:accent5>
        <a:srgbClr val="C4622A"/>
      </a:accent5>
      <a:accent6>
        <a:srgbClr val="3F4B54"/>
      </a:accent6>
      <a:hlink>
        <a:srgbClr val="C4622A"/>
      </a:hlink>
      <a:folHlink>
        <a:srgbClr val="7D6B91"/>
      </a:folHlink>
    </a:clrScheme>
    <a:fontScheme name="MedSim Charco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MedSim Eval: overview</dc:title>
  <dc:subject>Evaluation system for space-medicine digital assistants</dc:subject>
  <dc:creator>PptxGenJS</dc:creator>
  <cp:lastModifiedBy>PptxGenJS</cp:lastModifiedBy>
  <cp:revision>1</cp:revision>
  <dcterms:created xsi:type="dcterms:W3CDTF">2026-10-30T15:18:54Z</dcterms:created>
  <dcterms:modified xsi:type="dcterms:W3CDTF">2026-10-30T15:18:54Z</dcterms:modified>
</cp:coreProperties>
</file>