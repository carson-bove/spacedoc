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f173c93-9904-54d6-4610-87ffb05a151e}">
          <p14:sldIdLst>
            <p14:sldId id="256"/>
            <p14:sldId id="257"/>
          </p14:sldIdLst>
        </p14:section>
        <p14:section name="How it works" id="{7825113a-c115-d665-a826-0fa2e0374d97}">
          <p14:sldIdLst>
            <p14:sldId id="258"/>
            <p14:sldId id="259"/>
            <p14:sldId id="260"/>
            <p14:sldId id="261"/>
          </p14:sldIdLst>
        </p14:section>
        <p14:section name="Example" id="{ce7a2abb-ca29-f142-ab73-96e3c156b08c}">
          <p14:sldIdLst>
            <p14:sldId id="262"/>
          </p14:sldIdLst>
        </p14:section>
        <p14:section name="Plan of work" id="{55f81797-b65a-ceb4-d21b-371db57b4199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Conditions possible per environment (of 118)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Low Earth orbit</c:v>
                  </c:pt>
                  <c:pt idx="1">
                    <c:v>Cislunar space</c:v>
                  </c:pt>
                  <c:pt idx="2">
                    <c:v>Lunar surface</c:v>
                  </c:pt>
                  <c:pt idx="3">
                    <c:v>Mars transit</c:v>
                  </c:pt>
                  <c:pt idx="4">
                    <c:v>Mars surface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89</c:v>
                </c:pt>
                <c:pt idx="2">
                  <c:v>108</c:v>
                </c:pt>
                <c:pt idx="3">
                  <c:v>89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Medical kit aboard, by vehicle (item types)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Drugs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</c:v>
                </c:pt>
                <c:pt idx="1">
                  <c:v>55</c:v>
                </c:pt>
                <c:pt idx="2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ISS</c:v>
                  </c:pt>
                  <c:pt idx="1">
                    <c:v>Orion</c:v>
                  </c:pt>
                  <c:pt idx="2">
                    <c:v>Lunar lander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142</c:v>
                </c:pt>
                <c:pt idx="1">
                  <c:v>62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Worked example: checklist weight by domain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actions (points)</c:v>
                </c:pt>
              </c:strCache>
            </c:strRef>
          </c:tx>
          <c:spPr>
            <a:solidFill>
              <a:schemeClr val="tx2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21</c:v>
                </c:pt>
                <c:pt idx="3">
                  <c:v>15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Errors (penalty)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;-0;;@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Information gathering</c:v>
                  </c:pt>
                  <c:pt idx="1">
                    <c:v>Diagnostic reasoning</c:v>
                  </c:pt>
                  <c:pt idx="2">
                    <c:v>Management</c:v>
                  </c:pt>
                  <c:pt idx="3">
                    <c:v>Safety and escalation</c:v>
                  </c:pt>
                  <c:pt idx="4">
                    <c:v>Environment and resources</c:v>
                  </c:pt>
                  <c:pt idx="5">
                    <c:v>Communication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4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dLbls>
          <c:numFmt formatCode="0;-0;;@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chemeClr val="tx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chemeClr val="tx2"/>
                </a:solidFill>
                <a:latin typeface="+mn-lt"/>
              </a:defRPr>
            </a:pPr>
            <a:r>
              <a:rPr sz="1500" b="1" i="0" u="none" strike="noStrike">
                <a:solidFill>
                  <a:schemeClr val="tx2"/>
                </a:solidFill>
                <a:latin typeface="+mn-lt"/>
              </a:rPr>
              <a:t>Worst case: risk of loss of crew life (maximum)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of loss of crew life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Treated in time</c:v>
                  </c:pt>
                  <c:pt idx="1">
                    <c:v>Untreated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8.7</c:v>
                </c:pt>
                <c:pt idx="1">
                  <c:v>50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6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accent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MedSim Eval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MedSim Eval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Testing space-medicine assistants in simulated missions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Overview · evaluation stack and plan of work</a:t>
            </a:r>
            <a:endParaRPr lang="en-US" sz="1400" dirty="0"/>
          </a:p>
        </p:txBody>
      </p:sp>
      <p:sp>
        <p:nvSpPr>
          <p:cNvPr id="5" name="Orbit outer"/>
          <p:cNvSpPr/>
          <p:nvPr/>
        </p:nvSpPr>
        <p:spPr>
          <a:xfrm>
            <a:off x="8503920" y="914400"/>
            <a:ext cx="5120640" cy="512064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6" name="Orbit inner"/>
          <p:cNvSpPr/>
          <p:nvPr/>
        </p:nvSpPr>
        <p:spPr>
          <a:xfrm>
            <a:off x="9464040" y="1874520"/>
            <a:ext cx="3200400" cy="320040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7" name="Planet"/>
          <p:cNvSpPr/>
          <p:nvPr/>
        </p:nvSpPr>
        <p:spPr>
          <a:xfrm>
            <a:off x="10469880" y="28803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oon"/>
          <p:cNvSpPr/>
          <p:nvPr/>
        </p:nvSpPr>
        <p:spPr>
          <a:xfrm>
            <a:off x="8732520" y="1691640"/>
            <a:ext cx="384048" cy="384048"/>
          </a:xfrm>
          <a:prstGeom prst="ellipse">
            <a:avLst/>
          </a:prstGeom>
          <a:solidFill>
            <a:schemeClr val="bg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evaluation stack, from scenario to report</a:t>
            </a:r>
            <a:endParaRPr lang="en-US" sz="3400" dirty="0"/>
          </a:p>
        </p:txBody>
      </p:sp>
      <p:sp>
        <p:nvSpPr>
          <p:cNvPr id="3" name="Layer 1 card"/>
          <p:cNvSpPr/>
          <p:nvPr/>
        </p:nvSpPr>
        <p:spPr>
          <a:xfrm>
            <a:off x="548640" y="1371600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4" name="Layer 1 circle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ayer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6" name="Layer 1 title"/>
          <p:cNvSpPr txBox="1"/>
          <p:nvPr/>
        </p:nvSpPr>
        <p:spPr>
          <a:xfrm>
            <a:off x="1691640" y="1527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 Scenario authoring</a:t>
            </a:r>
            <a:endParaRPr lang="en-US" sz="1800" dirty="0"/>
          </a:p>
        </p:txBody>
      </p:sp>
      <p:sp>
        <p:nvSpPr>
          <p:cNvPr id="7" name="Layer 1 text"/>
          <p:cNvSpPr txBox="1"/>
          <p:nvPr/>
        </p:nvSpPr>
        <p:spPr>
          <a:xfrm>
            <a:off x="169164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Scenario Builder, validator and a NASA-sourced library</a:t>
            </a:r>
            <a:endParaRPr lang="en-US" sz="1400" dirty="0"/>
          </a:p>
        </p:txBody>
      </p:sp>
      <p:sp>
        <p:nvSpPr>
          <p:cNvPr id="8" name="Layer 1 status"/>
          <p:cNvSpPr/>
          <p:nvPr/>
        </p:nvSpPr>
        <p:spPr>
          <a:xfrm>
            <a:off x="6263640" y="1709928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Built</a:t>
            </a:r>
            <a:endParaRPr lang="en-US" sz="1300" dirty="0"/>
          </a:p>
        </p:txBody>
      </p:sp>
      <p:sp>
        <p:nvSpPr>
          <p:cNvPr id="9" name="Layer 2 card"/>
          <p:cNvSpPr/>
          <p:nvPr/>
        </p:nvSpPr>
        <p:spPr>
          <a:xfrm>
            <a:off x="548640" y="2587752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ayer 2 circle"/>
          <p:cNvSpPr/>
          <p:nvPr/>
        </p:nvSpPr>
        <p:spPr>
          <a:xfrm>
            <a:off x="777240" y="2770632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Layer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06" y="2955798"/>
            <a:ext cx="315468" cy="315468"/>
          </a:xfrm>
          <a:prstGeom prst="rect">
            <a:avLst/>
          </a:prstGeom>
        </p:spPr>
      </p:pic>
      <p:sp>
        <p:nvSpPr>
          <p:cNvPr id="12" name="Layer 2 title"/>
          <p:cNvSpPr txBox="1"/>
          <p:nvPr/>
        </p:nvSpPr>
        <p:spPr>
          <a:xfrm>
            <a:off x="1691640" y="2743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 Simulation</a:t>
            </a:r>
            <a:endParaRPr lang="en-US" sz="1800" dirty="0"/>
          </a:p>
        </p:txBody>
      </p:sp>
      <p:sp>
        <p:nvSpPr>
          <p:cNvPr id="13" name="Layer 2 text"/>
          <p:cNvSpPr txBox="1"/>
          <p:nvPr/>
        </p:nvSpPr>
        <p:spPr>
          <a:xfrm>
            <a:off x="1691640" y="31363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Digital twin of the patient, AI crewmember, batch runner</a:t>
            </a:r>
            <a:endParaRPr lang="en-US" sz="1400" dirty="0"/>
          </a:p>
        </p:txBody>
      </p:sp>
      <p:sp>
        <p:nvSpPr>
          <p:cNvPr id="14" name="Layer 2 status"/>
          <p:cNvSpPr/>
          <p:nvPr/>
        </p:nvSpPr>
        <p:spPr>
          <a:xfrm>
            <a:off x="6263640" y="29260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15" name="Layer 3 card"/>
          <p:cNvSpPr/>
          <p:nvPr/>
        </p:nvSpPr>
        <p:spPr>
          <a:xfrm>
            <a:off x="548640" y="3803904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6" name="Layer 3 circle"/>
          <p:cNvSpPr/>
          <p:nvPr/>
        </p:nvSpPr>
        <p:spPr>
          <a:xfrm>
            <a:off x="777240" y="3986784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Layer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" y="4171950"/>
            <a:ext cx="315468" cy="315468"/>
          </a:xfrm>
          <a:prstGeom prst="rect">
            <a:avLst/>
          </a:prstGeom>
        </p:spPr>
      </p:pic>
      <p:sp>
        <p:nvSpPr>
          <p:cNvPr id="18" name="Layer 3 title"/>
          <p:cNvSpPr txBox="1"/>
          <p:nvPr/>
        </p:nvSpPr>
        <p:spPr>
          <a:xfrm>
            <a:off x="1691640" y="39593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 Scoring</a:t>
            </a:r>
            <a:endParaRPr lang="en-US" sz="1800" dirty="0"/>
          </a:p>
        </p:txBody>
      </p:sp>
      <p:sp>
        <p:nvSpPr>
          <p:cNvPr id="19" name="Layer 3 text"/>
          <p:cNvSpPr txBox="1"/>
          <p:nvPr/>
        </p:nvSpPr>
        <p:spPr>
          <a:xfrm>
            <a:off x="1691640" y="435254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Per-run scorer, judge across runs, anomaly viewer</a:t>
            </a:r>
            <a:endParaRPr lang="en-US" sz="1400" dirty="0"/>
          </a:p>
        </p:txBody>
      </p:sp>
      <p:sp>
        <p:nvSpPr>
          <p:cNvPr id="20" name="Layer 3 status"/>
          <p:cNvSpPr/>
          <p:nvPr/>
        </p:nvSpPr>
        <p:spPr>
          <a:xfrm>
            <a:off x="6263640" y="4142232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21" name="Layer 4 card"/>
          <p:cNvSpPr/>
          <p:nvPr/>
        </p:nvSpPr>
        <p:spPr>
          <a:xfrm>
            <a:off x="548640" y="5020056"/>
            <a:ext cx="70408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2" name="Layer 4 circle"/>
          <p:cNvSpPr/>
          <p:nvPr/>
        </p:nvSpPr>
        <p:spPr>
          <a:xfrm>
            <a:off x="777240" y="5202936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Layer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" y="5388102"/>
            <a:ext cx="315468" cy="315468"/>
          </a:xfrm>
          <a:prstGeom prst="rect">
            <a:avLst/>
          </a:prstGeom>
        </p:spPr>
      </p:pic>
      <p:sp>
        <p:nvSpPr>
          <p:cNvPr id="24" name="Layer 4 title"/>
          <p:cNvSpPr txBox="1"/>
          <p:nvPr/>
        </p:nvSpPr>
        <p:spPr>
          <a:xfrm>
            <a:off x="1691640" y="5175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 Reporting</a:t>
            </a:r>
            <a:endParaRPr lang="en-US" sz="1800" dirty="0"/>
          </a:p>
        </p:txBody>
      </p:sp>
      <p:sp>
        <p:nvSpPr>
          <p:cNvPr id="25" name="Layer 4 text"/>
          <p:cNvSpPr txBox="1"/>
          <p:nvPr/>
        </p:nvSpPr>
        <p:spPr>
          <a:xfrm>
            <a:off x="1691640" y="5568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Medical report and technical report</a:t>
            </a:r>
            <a:endParaRPr lang="en-US" sz="1400" dirty="0"/>
          </a:p>
        </p:txBody>
      </p:sp>
      <p:sp>
        <p:nvSpPr>
          <p:cNvPr id="26" name="Layer 4 status"/>
          <p:cNvSpPr/>
          <p:nvPr/>
        </p:nvSpPr>
        <p:spPr>
          <a:xfrm>
            <a:off x="6263640" y="5358384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Designed</a:t>
            </a:r>
            <a:endParaRPr lang="en-US" sz="1300" dirty="0"/>
          </a:p>
        </p:txBody>
      </p:sp>
      <p:sp>
        <p:nvSpPr>
          <p:cNvPr id="27" name="Principles panel"/>
          <p:cNvSpPr/>
          <p:nvPr/>
        </p:nvSpPr>
        <p:spPr>
          <a:xfrm>
            <a:off x="7955280" y="1371600"/>
            <a:ext cx="3657600" cy="4700016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</p:spPr>
      </p:sp>
      <p:sp>
        <p:nvSpPr>
          <p:cNvPr id="28" name="Principle 1 circle"/>
          <p:cNvSpPr/>
          <p:nvPr/>
        </p:nvSpPr>
        <p:spPr>
          <a:xfrm>
            <a:off x="822960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Principle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2422" y="1910182"/>
            <a:ext cx="294437" cy="294437"/>
          </a:xfrm>
          <a:prstGeom prst="rect">
            <a:avLst/>
          </a:prstGeom>
        </p:spPr>
      </p:pic>
      <p:sp>
        <p:nvSpPr>
          <p:cNvPr id="30" name="Principle 1 title"/>
          <p:cNvSpPr txBox="1"/>
          <p:nvPr/>
        </p:nvSpPr>
        <p:spPr>
          <a:xfrm>
            <a:off x="905256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Any assistant</a:t>
            </a:r>
            <a:endParaRPr lang="en-US" sz="1600" dirty="0"/>
          </a:p>
        </p:txBody>
      </p:sp>
      <p:sp>
        <p:nvSpPr>
          <p:cNvPr id="31" name="Principle 1 text"/>
          <p:cNvSpPr txBox="1"/>
          <p:nvPr/>
        </p:nvSpPr>
        <p:spPr>
          <a:xfrm>
            <a:off x="9052560" y="21031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SpaceDoc, CMO-DA or homegrown, through a small adapter and MCP tools.</a:t>
            </a:r>
            <a:endParaRPr lang="en-US" sz="1400" dirty="0"/>
          </a:p>
        </p:txBody>
      </p:sp>
      <p:sp>
        <p:nvSpPr>
          <p:cNvPr id="32" name="Principle 2 circle"/>
          <p:cNvSpPr/>
          <p:nvPr/>
        </p:nvSpPr>
        <p:spPr>
          <a:xfrm>
            <a:off x="8229600" y="3200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Principle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2422" y="3373222"/>
            <a:ext cx="294437" cy="294437"/>
          </a:xfrm>
          <a:prstGeom prst="rect">
            <a:avLst/>
          </a:prstGeom>
        </p:spPr>
      </p:pic>
      <p:sp>
        <p:nvSpPr>
          <p:cNvPr id="34" name="Principle 2 title"/>
          <p:cNvSpPr txBox="1"/>
          <p:nvPr/>
        </p:nvSpPr>
        <p:spPr>
          <a:xfrm>
            <a:off x="9052560" y="3182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Runs locally</a:t>
            </a:r>
            <a:endParaRPr lang="en-US" sz="1600" dirty="0"/>
          </a:p>
        </p:txBody>
      </p:sp>
      <p:sp>
        <p:nvSpPr>
          <p:cNvPr id="35" name="Principle 2 text"/>
          <p:cNvSpPr txBox="1"/>
          <p:nvPr/>
        </p:nvSpPr>
        <p:spPr>
          <a:xfrm>
            <a:off x="9052560" y="35661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On a laptop, overnight. No cloud calls.</a:t>
            </a:r>
            <a:endParaRPr lang="en-US" sz="1400" dirty="0"/>
          </a:p>
        </p:txBody>
      </p:sp>
      <p:sp>
        <p:nvSpPr>
          <p:cNvPr id="36" name="Principle 3 circle"/>
          <p:cNvSpPr/>
          <p:nvPr/>
        </p:nvSpPr>
        <p:spPr>
          <a:xfrm>
            <a:off x="8229600" y="46634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Principle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2422" y="4836262"/>
            <a:ext cx="294437" cy="294437"/>
          </a:xfrm>
          <a:prstGeom prst="rect">
            <a:avLst/>
          </a:prstGeom>
        </p:spPr>
      </p:pic>
      <p:sp>
        <p:nvSpPr>
          <p:cNvPr id="38" name="Principle 3 title"/>
          <p:cNvSpPr txBox="1"/>
          <p:nvPr/>
        </p:nvSpPr>
        <p:spPr>
          <a:xfrm>
            <a:off x="9052560" y="4645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Traceable scores</a:t>
            </a:r>
            <a:endParaRPr lang="en-US" sz="1600" dirty="0"/>
          </a:p>
        </p:txBody>
      </p:sp>
      <p:sp>
        <p:nvSpPr>
          <p:cNvPr id="39" name="Principle 3 text"/>
          <p:cNvSpPr txBox="1"/>
          <p:nvPr/>
        </p:nvSpPr>
        <p:spPr>
          <a:xfrm>
            <a:off x="9052560" y="50292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Each score links to the transcript turn or twin event behind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How a scenario runs, from authoring to reports</a:t>
            </a:r>
            <a:endParaRPr lang="en-US" sz="3400" dirty="0"/>
          </a:p>
        </p:txBody>
      </p:sp>
      <p:sp>
        <p:nvSpPr>
          <p:cNvPr id="3" name="Authoring box"/>
          <p:cNvSpPr/>
          <p:nvPr/>
        </p:nvSpPr>
        <p:spPr>
          <a:xfrm>
            <a:off x="548640" y="1325880"/>
            <a:ext cx="29260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Authoring title"/>
          <p:cNvSpPr txBox="1"/>
          <p:nvPr/>
        </p:nvSpPr>
        <p:spPr>
          <a:xfrm>
            <a:off x="73152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Scenario authoring</a:t>
            </a:r>
            <a:endParaRPr lang="en-US" sz="1400" dirty="0"/>
          </a:p>
        </p:txBody>
      </p:sp>
      <p:sp>
        <p:nvSpPr>
          <p:cNvPr id="5" name="Authoring text"/>
          <p:cNvSpPr txBox="1"/>
          <p:nvPr/>
        </p:nvSpPr>
        <p:spPr>
          <a:xfrm>
            <a:off x="731520" y="1874520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Clerks write scenarios in the Scenario Builder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NASA library: missions, CLiFFs, kits, crew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Physiologist reviews flagged scenarios</a:t>
            </a:r>
            <a:endParaRPr lang="en-US" sz="1200" dirty="0"/>
          </a:p>
        </p:txBody>
      </p:sp>
      <p:sp>
        <p:nvSpPr>
          <p:cNvPr id="6" name="Arrow authoring"/>
          <p:cNvSpPr/>
          <p:nvPr/>
        </p:nvSpPr>
        <p:spPr>
          <a:xfrm>
            <a:off x="3547872" y="2377440"/>
            <a:ext cx="329184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Simulation group"/>
          <p:cNvSpPr/>
          <p:nvPr/>
        </p:nvSpPr>
        <p:spPr>
          <a:xfrm>
            <a:off x="3931920" y="1325880"/>
            <a:ext cx="4023360" cy="2103120"/>
          </a:xfrm>
          <a:prstGeom prst="roundRect">
            <a:avLst>
              <a:gd name="adj" fmla="val 3478"/>
            </a:avLst>
          </a:prstGeom>
          <a:ln w="15875">
            <a:solidFill>
              <a:schemeClr val="accent2"/>
            </a:solidFill>
            <a:prstDash val="dash"/>
          </a:ln>
        </p:spPr>
      </p:sp>
      <p:sp>
        <p:nvSpPr>
          <p:cNvPr id="8" name="Simulation label"/>
          <p:cNvSpPr txBox="1"/>
          <p:nvPr/>
        </p:nvSpPr>
        <p:spPr>
          <a:xfrm>
            <a:off x="4114800" y="1399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MedSim Eval · runs locally</a:t>
            </a:r>
            <a:endParaRPr lang="en-US" sz="1200" dirty="0"/>
          </a:p>
        </p:txBody>
      </p:sp>
      <p:sp>
        <p:nvSpPr>
          <p:cNvPr id="9" name="User agent box"/>
          <p:cNvSpPr/>
          <p:nvPr/>
        </p:nvSpPr>
        <p:spPr>
          <a:xfrm>
            <a:off x="4114800" y="1719072"/>
            <a:ext cx="3657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0" name="User agent text"/>
          <p:cNvSpPr txBox="1"/>
          <p:nvPr/>
        </p:nvSpPr>
        <p:spPr>
          <a:xfrm>
            <a:off x="4242816" y="1810512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crewmember (user agent)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Plays the patient or CMO, as the scenario describes</a:t>
            </a:r>
            <a:endParaRPr lang="en-US" sz="1400" dirty="0"/>
          </a:p>
        </p:txBody>
      </p:sp>
      <p:sp>
        <p:nvSpPr>
          <p:cNvPr id="11" name="Twin box"/>
          <p:cNvSpPr/>
          <p:nvPr/>
        </p:nvSpPr>
        <p:spPr>
          <a:xfrm>
            <a:off x="4114800" y="2560320"/>
            <a:ext cx="3657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2" name="Twin text"/>
          <p:cNvSpPr txBox="1"/>
          <p:nvPr/>
        </p:nvSpPr>
        <p:spPr>
          <a:xfrm>
            <a:off x="4242816" y="2651760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Digital twin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Patient physiology, onboard kit and a simulated clock</a:t>
            </a:r>
            <a:endParaRPr lang="en-US" sz="1400" dirty="0"/>
          </a:p>
        </p:txBody>
      </p:sp>
      <p:sp>
        <p:nvSpPr>
          <p:cNvPr id="13" name="Assistant box"/>
          <p:cNvSpPr/>
          <p:nvPr/>
        </p:nvSpPr>
        <p:spPr>
          <a:xfrm>
            <a:off x="9144000" y="1325880"/>
            <a:ext cx="2468880" cy="21031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/>
        </p:spPr>
      </p:sp>
      <p:sp>
        <p:nvSpPr>
          <p:cNvPr id="14" name="Assistant text"/>
          <p:cNvSpPr txBox="1"/>
          <p:nvPr/>
        </p:nvSpPr>
        <p:spPr>
          <a:xfrm>
            <a:off x="9326880" y="14630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Assistant under test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SpaceDoc, CMO-DA or any other</a:t>
            </a:r>
            <a:endParaRPr lang="en-US" sz="1500" dirty="0"/>
          </a:p>
        </p:txBody>
      </p:sp>
      <p:sp>
        <p:nvSpPr>
          <p:cNvPr id="15" name="Conversation label"/>
          <p:cNvSpPr txBox="1"/>
          <p:nvPr/>
        </p:nvSpPr>
        <p:spPr>
          <a:xfrm>
            <a:off x="8001000" y="18105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Conversation</a:t>
            </a:r>
            <a:endParaRPr lang="en-US" sz="1200" dirty="0"/>
          </a:p>
        </p:txBody>
      </p:sp>
      <p:sp>
        <p:nvSpPr>
          <p:cNvPr id="16" name="Arrow conversation"/>
          <p:cNvSpPr/>
          <p:nvPr/>
        </p:nvSpPr>
        <p:spPr>
          <a:xfrm>
            <a:off x="7863840" y="2093976"/>
            <a:ext cx="120700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17" name="Tools label"/>
          <p:cNvSpPr txBox="1"/>
          <p:nvPr/>
        </p:nvSpPr>
        <p:spPr>
          <a:xfrm>
            <a:off x="8001000" y="2651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MCP tools</a:t>
            </a:r>
            <a:endParaRPr lang="en-US" sz="1200" dirty="0"/>
          </a:p>
        </p:txBody>
      </p:sp>
      <p:sp>
        <p:nvSpPr>
          <p:cNvPr id="18" name="Arrow tools"/>
          <p:cNvSpPr/>
          <p:nvPr/>
        </p:nvSpPr>
        <p:spPr>
          <a:xfrm>
            <a:off x="7863840" y="2935224"/>
            <a:ext cx="120700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19" name="Arrow to log"/>
          <p:cNvSpPr/>
          <p:nvPr/>
        </p:nvSpPr>
        <p:spPr>
          <a:xfrm>
            <a:off x="5943600" y="3456432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Run log band"/>
          <p:cNvSpPr/>
          <p:nvPr/>
        </p:nvSpPr>
        <p:spPr>
          <a:xfrm>
            <a:off x="548640" y="3675888"/>
            <a:ext cx="1106424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run logs the conversation, tool calls (vitals, exams, tests, treatments) and twin state, in simulated time</a:t>
            </a:r>
            <a:endParaRPr lang="en-US" sz="1200" dirty="0"/>
          </a:p>
        </p:txBody>
      </p:sp>
      <p:sp>
        <p:nvSpPr>
          <p:cNvPr id="21" name="Arrow to scorer"/>
          <p:cNvSpPr/>
          <p:nvPr/>
        </p:nvSpPr>
        <p:spPr>
          <a:xfrm>
            <a:off x="1490472" y="4078224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Pipeline 1 box"/>
          <p:cNvSpPr/>
          <p:nvPr/>
        </p:nvSpPr>
        <p:spPr>
          <a:xfrm>
            <a:off x="548640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3" name="Pipeline 1 text"/>
          <p:cNvSpPr txBox="1"/>
          <p:nvPr/>
        </p:nvSpPr>
        <p:spPr>
          <a:xfrm>
            <a:off x="676656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Scorer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Checks each rubric item in each run, citing evidence</a:t>
            </a:r>
            <a:endParaRPr lang="en-US" sz="1400" dirty="0"/>
          </a:p>
        </p:txBody>
      </p:sp>
      <p:sp>
        <p:nvSpPr>
          <p:cNvPr id="24" name="Arrow pipeline 1"/>
          <p:cNvSpPr/>
          <p:nvPr/>
        </p:nvSpPr>
        <p:spPr>
          <a:xfrm>
            <a:off x="2468880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5" name="Pipeline 2 box"/>
          <p:cNvSpPr/>
          <p:nvPr/>
        </p:nvSpPr>
        <p:spPr>
          <a:xfrm>
            <a:off x="2843784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6" name="Pipeline 2 text"/>
          <p:cNvSpPr txBox="1"/>
          <p:nvPr/>
        </p:nvSpPr>
        <p:spPr>
          <a:xfrm>
            <a:off x="2971800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Judge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Reads all 8 runs, summarises and flags anomalies</a:t>
            </a:r>
            <a:endParaRPr lang="en-US" sz="1400" dirty="0"/>
          </a:p>
        </p:txBody>
      </p:sp>
      <p:sp>
        <p:nvSpPr>
          <p:cNvPr id="27" name="Arrow pipeline 2"/>
          <p:cNvSpPr/>
          <p:nvPr/>
        </p:nvSpPr>
        <p:spPr>
          <a:xfrm>
            <a:off x="4764024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Pipeline 3 box"/>
          <p:cNvSpPr/>
          <p:nvPr/>
        </p:nvSpPr>
        <p:spPr>
          <a:xfrm>
            <a:off x="5138928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9" name="Pipeline 3 text"/>
          <p:cNvSpPr txBox="1"/>
          <p:nvPr/>
        </p:nvSpPr>
        <p:spPr>
          <a:xfrm>
            <a:off x="5266944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Clinician review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Viewer opens each anomaly at the exact turn</a:t>
            </a:r>
            <a:endParaRPr lang="en-US" sz="1400" dirty="0"/>
          </a:p>
        </p:txBody>
      </p:sp>
      <p:sp>
        <p:nvSpPr>
          <p:cNvPr id="30" name="Arrow pipeline 3"/>
          <p:cNvSpPr/>
          <p:nvPr/>
        </p:nvSpPr>
        <p:spPr>
          <a:xfrm>
            <a:off x="7059168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1" name="Pipeline 4 box"/>
          <p:cNvSpPr/>
          <p:nvPr/>
        </p:nvSpPr>
        <p:spPr>
          <a:xfrm>
            <a:off x="7434072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32" name="Pipeline 4 text"/>
          <p:cNvSpPr txBox="1"/>
          <p:nvPr/>
        </p:nvSpPr>
        <p:spPr>
          <a:xfrm>
            <a:off x="7562088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Feedback agent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Turns scores and review into reports</a:t>
            </a:r>
            <a:endParaRPr lang="en-US" sz="1400" dirty="0"/>
          </a:p>
        </p:txBody>
      </p:sp>
      <p:sp>
        <p:nvSpPr>
          <p:cNvPr id="33" name="Arrow pipeline 4"/>
          <p:cNvSpPr/>
          <p:nvPr/>
        </p:nvSpPr>
        <p:spPr>
          <a:xfrm>
            <a:off x="9354312" y="4873752"/>
            <a:ext cx="338328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4" name="Pipeline 5 box"/>
          <p:cNvSpPr/>
          <p:nvPr/>
        </p:nvSpPr>
        <p:spPr>
          <a:xfrm>
            <a:off x="9729216" y="4279392"/>
            <a:ext cx="1883664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5" name="Pipeline 5 text"/>
          <p:cNvSpPr txBox="1"/>
          <p:nvPr/>
        </p:nvSpPr>
        <p:spPr>
          <a:xfrm>
            <a:off x="9857232" y="4370832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Reports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Medical report and technical report</a:t>
            </a:r>
            <a:endParaRPr lang="en-US" sz="1400" dirty="0"/>
          </a:p>
        </p:txBody>
      </p:sp>
      <p:sp>
        <p:nvSpPr>
          <p:cNvPr id="36" name="Diagram note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Every run has a seed, so any run can be replayed exactly. All agents run on local models.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scenario is grounded in NASA's own data</a:t>
            </a:r>
            <a:endParaRPr lang="en-US" sz="3400" dirty="0"/>
          </a:p>
        </p:txBody>
      </p:sp>
      <p:sp>
        <p:nvSpPr>
          <p:cNvPr id="3" name="Stat 1 card"/>
          <p:cNvSpPr/>
          <p:nvPr/>
        </p:nvSpPr>
        <p:spPr>
          <a:xfrm>
            <a:off x="54864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tat 1 number"/>
          <p:cNvSpPr txBox="1"/>
          <p:nvPr/>
        </p:nvSpPr>
        <p:spPr>
          <a:xfrm>
            <a:off x="73152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118</a:t>
            </a:r>
            <a:endParaRPr lang="en-US" sz="36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IMM conditions (2023 CLiFFs) with treated and untreated courses</a:t>
            </a:r>
            <a:endParaRPr lang="en-US" sz="1200" dirty="0"/>
          </a:p>
        </p:txBody>
      </p:sp>
      <p:sp>
        <p:nvSpPr>
          <p:cNvPr id="6" name="Stat 2 card"/>
          <p:cNvSpPr/>
          <p:nvPr/>
        </p:nvSpPr>
        <p:spPr>
          <a:xfrm>
            <a:off x="3246120" y="141732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tat 2 number"/>
          <p:cNvSpPr txBox="1"/>
          <p:nvPr/>
        </p:nvSpPr>
        <p:spPr>
          <a:xfrm>
            <a:off x="3429000" y="1527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</a:t>
            </a:r>
            <a:endParaRPr lang="en-US" sz="3600" dirty="0"/>
          </a:p>
        </p:txBody>
      </p:sp>
      <p:sp>
        <p:nvSpPr>
          <p:cNvPr id="8" name="Stat 2 label"/>
          <p:cNvSpPr txBox="1"/>
          <p:nvPr/>
        </p:nvSpPr>
        <p:spPr>
          <a:xfrm>
            <a:off x="3429000" y="21305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 Reference Missions</a:t>
            </a:r>
            <a:endParaRPr lang="en-US" sz="1200" dirty="0"/>
          </a:p>
        </p:txBody>
      </p:sp>
      <p:sp>
        <p:nvSpPr>
          <p:cNvPr id="9" name="Stat 3 card"/>
          <p:cNvSpPr/>
          <p:nvPr/>
        </p:nvSpPr>
        <p:spPr>
          <a:xfrm>
            <a:off x="54864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tat 3 number"/>
          <p:cNvSpPr txBox="1"/>
          <p:nvPr/>
        </p:nvSpPr>
        <p:spPr>
          <a:xfrm>
            <a:off x="73152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Stat 3 label"/>
          <p:cNvSpPr txBox="1"/>
          <p:nvPr/>
        </p:nvSpPr>
        <p:spPr>
          <a:xfrm>
            <a:off x="73152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habitat medical kits and capability profiles</a:t>
            </a:r>
            <a:endParaRPr lang="en-US" sz="1200" dirty="0"/>
          </a:p>
        </p:txBody>
      </p:sp>
      <p:sp>
        <p:nvSpPr>
          <p:cNvPr id="12" name="Stat 4 card"/>
          <p:cNvSpPr/>
          <p:nvPr/>
        </p:nvSpPr>
        <p:spPr>
          <a:xfrm>
            <a:off x="3246120" y="297180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tat 4 number"/>
          <p:cNvSpPr txBox="1"/>
          <p:nvPr/>
        </p:nvSpPr>
        <p:spPr>
          <a:xfrm>
            <a:off x="3429000" y="308152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</a:t>
            </a:r>
            <a:endParaRPr lang="en-US" sz="3600" dirty="0"/>
          </a:p>
        </p:txBody>
      </p:sp>
      <p:sp>
        <p:nvSpPr>
          <p:cNvPr id="14" name="Stat 4 label"/>
          <p:cNvSpPr txBox="1"/>
          <p:nvPr/>
        </p:nvSpPr>
        <p:spPr>
          <a:xfrm>
            <a:off x="3429000" y="36850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synthetic crewmembers modelled on the active corps</a:t>
            </a:r>
            <a:endParaRPr lang="en-US" sz="1200" dirty="0"/>
          </a:p>
        </p:txBody>
      </p:sp>
      <p:sp>
        <p:nvSpPr>
          <p:cNvPr id="15" name="Stat 5 card"/>
          <p:cNvSpPr/>
          <p:nvPr/>
        </p:nvSpPr>
        <p:spPr>
          <a:xfrm>
            <a:off x="54864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tat 5 number"/>
          <p:cNvSpPr txBox="1"/>
          <p:nvPr/>
        </p:nvSpPr>
        <p:spPr>
          <a:xfrm>
            <a:off x="73152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678</a:t>
            </a:r>
            <a:endParaRPr lang="en-US" sz="3600" dirty="0"/>
          </a:p>
        </p:txBody>
      </p:sp>
      <p:sp>
        <p:nvSpPr>
          <p:cNvPr id="17" name="Stat 5 label"/>
          <p:cNvSpPr txBox="1"/>
          <p:nvPr/>
        </p:nvSpPr>
        <p:spPr>
          <a:xfrm>
            <a:off x="73152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ICD-10-CM symptom codes</a:t>
            </a:r>
            <a:endParaRPr lang="en-US" sz="1200" dirty="0"/>
          </a:p>
        </p:txBody>
      </p:sp>
      <p:sp>
        <p:nvSpPr>
          <p:cNvPr id="18" name="Stat 6 card"/>
          <p:cNvSpPr/>
          <p:nvPr/>
        </p:nvSpPr>
        <p:spPr>
          <a:xfrm>
            <a:off x="3246120" y="4526280"/>
            <a:ext cx="25146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tat 6 number"/>
          <p:cNvSpPr txBox="1"/>
          <p:nvPr/>
        </p:nvSpPr>
        <p:spPr>
          <a:xfrm>
            <a:off x="3429000" y="463600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90</a:t>
            </a:r>
            <a:endParaRPr lang="en-US" sz="3600" dirty="0"/>
          </a:p>
        </p:txBody>
      </p:sp>
      <p:sp>
        <p:nvSpPr>
          <p:cNvPr id="20" name="Stat 6 label"/>
          <p:cNvSpPr txBox="1"/>
          <p:nvPr/>
        </p:nvSpPr>
        <p:spPr>
          <a:xfrm>
            <a:off x="3429000" y="52395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reference entries: kit drugs (FDA labels) and terms</a:t>
            </a:r>
            <a:endParaRPr lang="en-US" sz="1200" dirty="0"/>
          </a:p>
        </p:txBody>
      </p:sp>
      <p:graphicFrame>
        <p:nvGraphicFramePr>
          <p:cNvPr id="21" name="Chart conditions by environment" descr=""/>
          <p:cNvGraphicFramePr/>
          <p:nvPr/>
        </p:nvGraphicFramePr>
        <p:xfrm>
          <a:off x="6172200" y="1325880"/>
          <a:ext cx="5440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ources"/>
          <p:cNvSpPr txBox="1"/>
          <p:nvPr/>
        </p:nvSpPr>
        <p:spPr>
          <a:xfrm>
            <a:off x="6172200" y="589788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Sources: NASA Integrated Medical Model (CLiFFs, DRMs, kit lists); ICD-10-CM; FDA labeling via DailyMed.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Each scenario runs 8 times, in 3 mission settings</a:t>
            </a:r>
            <a:endParaRPr lang="en-US" sz="3400" dirty="0"/>
          </a:p>
        </p:txBody>
      </p:sp>
      <p:sp>
        <p:nvSpPr>
          <p:cNvPr id="3" name="Runs heading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Default batch per scenario</a:t>
            </a:r>
            <a:endParaRPr lang="en-US" sz="1700" dirty="0"/>
          </a:p>
        </p:txBody>
      </p:sp>
      <p:sp>
        <p:nvSpPr>
          <p:cNvPr id="4" name="Env 1"/>
          <p:cNvSpPr txBox="1"/>
          <p:nvPr/>
        </p:nvSpPr>
        <p:spPr>
          <a:xfrm>
            <a:off x="17830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Low Earth orbit</a:t>
            </a:r>
            <a:endParaRPr lang="en-US" sz="1300" dirty="0"/>
          </a:p>
        </p:txBody>
      </p:sp>
      <p:sp>
        <p:nvSpPr>
          <p:cNvPr id="5" name="Env 2"/>
          <p:cNvSpPr txBox="1"/>
          <p:nvPr/>
        </p:nvSpPr>
        <p:spPr>
          <a:xfrm>
            <a:off x="31546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transit</a:t>
            </a:r>
            <a:endParaRPr lang="en-US" sz="1300" dirty="0"/>
          </a:p>
        </p:txBody>
      </p:sp>
      <p:sp>
        <p:nvSpPr>
          <p:cNvPr id="6" name="Env 3"/>
          <p:cNvSpPr txBox="1"/>
          <p:nvPr/>
        </p:nvSpPr>
        <p:spPr>
          <a:xfrm>
            <a:off x="4526280" y="1828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Mars surface</a:t>
            </a:r>
            <a:endParaRPr lang="en-US" sz="1300" dirty="0"/>
          </a:p>
        </p:txBody>
      </p:sp>
      <p:sp>
        <p:nvSpPr>
          <p:cNvPr id="7" name="Course 1"/>
          <p:cNvSpPr txBox="1"/>
          <p:nvPr/>
        </p:nvSpPr>
        <p:spPr>
          <a:xfrm>
            <a:off x="548640" y="23774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Best course</a:t>
            </a:r>
            <a:endParaRPr lang="en-US" sz="1400" dirty="0"/>
          </a:p>
        </p:txBody>
      </p:sp>
      <p:sp>
        <p:nvSpPr>
          <p:cNvPr id="8" name="Run 1"/>
          <p:cNvSpPr/>
          <p:nvPr/>
        </p:nvSpPr>
        <p:spPr>
          <a:xfrm>
            <a:off x="17830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1</a:t>
            </a:r>
            <a:endParaRPr lang="en-US" sz="1500" dirty="0"/>
          </a:p>
        </p:txBody>
      </p:sp>
      <p:sp>
        <p:nvSpPr>
          <p:cNvPr id="9" name="Run 2"/>
          <p:cNvSpPr/>
          <p:nvPr/>
        </p:nvSpPr>
        <p:spPr>
          <a:xfrm>
            <a:off x="31546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2</a:t>
            </a:r>
            <a:endParaRPr lang="en-US" sz="1500" dirty="0"/>
          </a:p>
        </p:txBody>
      </p:sp>
      <p:sp>
        <p:nvSpPr>
          <p:cNvPr id="10" name="Run 3"/>
          <p:cNvSpPr/>
          <p:nvPr/>
        </p:nvSpPr>
        <p:spPr>
          <a:xfrm>
            <a:off x="4526280" y="23774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3</a:t>
            </a:r>
            <a:endParaRPr lang="en-US" sz="1500" dirty="0"/>
          </a:p>
        </p:txBody>
      </p:sp>
      <p:sp>
        <p:nvSpPr>
          <p:cNvPr id="11" name="Course 2"/>
          <p:cNvSpPr txBox="1"/>
          <p:nvPr/>
        </p:nvSpPr>
        <p:spPr>
          <a:xfrm>
            <a:off x="548640" y="32918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Worst course</a:t>
            </a:r>
            <a:endParaRPr lang="en-US" sz="1400" dirty="0"/>
          </a:p>
        </p:txBody>
      </p:sp>
      <p:sp>
        <p:nvSpPr>
          <p:cNvPr id="12" name="Run 4"/>
          <p:cNvSpPr/>
          <p:nvPr/>
        </p:nvSpPr>
        <p:spPr>
          <a:xfrm>
            <a:off x="17830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4</a:t>
            </a:r>
            <a:endParaRPr lang="en-US" sz="1500" dirty="0"/>
          </a:p>
        </p:txBody>
      </p:sp>
      <p:sp>
        <p:nvSpPr>
          <p:cNvPr id="13" name="Run 5"/>
          <p:cNvSpPr/>
          <p:nvPr/>
        </p:nvSpPr>
        <p:spPr>
          <a:xfrm>
            <a:off x="31546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5</a:t>
            </a:r>
            <a:endParaRPr lang="en-US" sz="1500" dirty="0"/>
          </a:p>
        </p:txBody>
      </p:sp>
      <p:sp>
        <p:nvSpPr>
          <p:cNvPr id="14" name="Run 6"/>
          <p:cNvSpPr/>
          <p:nvPr/>
        </p:nvSpPr>
        <p:spPr>
          <a:xfrm>
            <a:off x="4526280" y="3291840"/>
            <a:ext cx="128016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 6</a:t>
            </a:r>
            <a:endParaRPr lang="en-US" sz="1500" dirty="0"/>
          </a:p>
        </p:txBody>
      </p:sp>
      <p:sp>
        <p:nvSpPr>
          <p:cNvPr id="15" name="Course 3"/>
          <p:cNvSpPr txBox="1"/>
          <p:nvPr/>
        </p:nvSpPr>
        <p:spPr>
          <a:xfrm>
            <a:off x="548640" y="42062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CLiFF odds</a:t>
            </a:r>
            <a:endParaRPr lang="en-US" sz="1400" dirty="0"/>
          </a:p>
        </p:txBody>
      </p:sp>
      <p:sp>
        <p:nvSpPr>
          <p:cNvPr id="16" name="Run 7"/>
          <p:cNvSpPr/>
          <p:nvPr/>
        </p:nvSpPr>
        <p:spPr>
          <a:xfrm>
            <a:off x="17830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7</a:t>
            </a:r>
            <a:endParaRPr lang="en-US" sz="1500" dirty="0"/>
          </a:p>
        </p:txBody>
      </p:sp>
      <p:sp>
        <p:nvSpPr>
          <p:cNvPr id="17" name="Run 8"/>
          <p:cNvSpPr/>
          <p:nvPr/>
        </p:nvSpPr>
        <p:spPr>
          <a:xfrm>
            <a:off x="3840480" y="4206240"/>
            <a:ext cx="1965960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Run 8</a:t>
            </a:r>
            <a:endParaRPr lang="en-US" sz="1500" dirty="0"/>
          </a:p>
        </p:txBody>
      </p:sp>
      <p:sp>
        <p:nvSpPr>
          <p:cNvPr id="18" name="Clock circle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C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5522062"/>
            <a:ext cx="294437" cy="294437"/>
          </a:xfrm>
          <a:prstGeom prst="rect">
            <a:avLst/>
          </a:prstGeom>
        </p:spPr>
      </p:pic>
      <p:sp>
        <p:nvSpPr>
          <p:cNvPr id="20" name="Clock note"/>
          <p:cNvSpPr txBox="1"/>
          <p:nvPr/>
        </p:nvSpPr>
        <p:spPr>
          <a:xfrm>
            <a:off x="1371600" y="5257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clock jumps ahead when nothing is happening, so a 10-day antibiotic course runs in seconds. Every run has a seed and can be replayed exactly.</a:t>
            </a:r>
            <a:endParaRPr lang="en-US" sz="1400" dirty="0"/>
          </a:p>
        </p:txBody>
      </p:sp>
      <p:graphicFrame>
        <p:nvGraphicFramePr>
          <p:cNvPr id="21" name="Chart kit by vehicle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Kit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checklist item that needs ultrasound is scored not applicable where none is aboard, rather than failed.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Four layers of scoring, reported side by side</a:t>
            </a:r>
            <a:endParaRPr lang="en-US" sz="3400" dirty="0"/>
          </a:p>
        </p:txBody>
      </p:sp>
      <p:sp>
        <p:nvSpPr>
          <p:cNvPr id="3" name="Layer A card"/>
          <p:cNvSpPr/>
          <p:nvPr/>
        </p:nvSpPr>
        <p:spPr>
          <a:xfrm>
            <a:off x="548640" y="137160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4" name="Layer A badge"/>
          <p:cNvSpPr/>
          <p:nvPr/>
        </p:nvSpPr>
        <p:spPr>
          <a:xfrm>
            <a:off x="777240" y="160934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Layer A title"/>
          <p:cNvSpPr txBox="1"/>
          <p:nvPr/>
        </p:nvSpPr>
        <p:spPr>
          <a:xfrm>
            <a:off x="1554480" y="1527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Critical errors</a:t>
            </a:r>
            <a:endParaRPr lang="en-US" sz="1800" dirty="0"/>
          </a:p>
        </p:txBody>
      </p:sp>
      <p:sp>
        <p:nvSpPr>
          <p:cNvPr id="6" name="Layer A text"/>
          <p:cNvSpPr txBox="1"/>
          <p:nvPr/>
        </p:nvSpPr>
        <p:spPr>
          <a:xfrm>
            <a:off x="1554480" y="19019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Never events. Any one fails the run.</a:t>
            </a:r>
            <a:endParaRPr lang="en-US" sz="1500" dirty="0"/>
          </a:p>
        </p:txBody>
      </p:sp>
      <p:sp>
        <p:nvSpPr>
          <p:cNvPr id="7" name="Layer B card"/>
          <p:cNvSpPr/>
          <p:nvPr/>
        </p:nvSpPr>
        <p:spPr>
          <a:xfrm>
            <a:off x="548640" y="256032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8" name="Layer B badge"/>
          <p:cNvSpPr/>
          <p:nvPr/>
        </p:nvSpPr>
        <p:spPr>
          <a:xfrm>
            <a:off x="777240" y="279806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Layer B title"/>
          <p:cNvSpPr txBox="1"/>
          <p:nvPr/>
        </p:nvSpPr>
        <p:spPr>
          <a:xfrm>
            <a:off x="1554480" y="2715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10" name="Layer B text"/>
          <p:cNvSpPr txBox="1"/>
          <p:nvPr/>
        </p:nvSpPr>
        <p:spPr>
          <a:xfrm>
            <a:off x="1554480" y="30906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Observable actions, weighted −10 to +10.</a:t>
            </a:r>
            <a:endParaRPr lang="en-US" sz="1500" dirty="0"/>
          </a:p>
        </p:txBody>
      </p:sp>
      <p:sp>
        <p:nvSpPr>
          <p:cNvPr id="11" name="Layer C card"/>
          <p:cNvSpPr/>
          <p:nvPr/>
        </p:nvSpPr>
        <p:spPr>
          <a:xfrm>
            <a:off x="548640" y="374904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2" name="Layer C badge"/>
          <p:cNvSpPr/>
          <p:nvPr/>
        </p:nvSpPr>
        <p:spPr>
          <a:xfrm>
            <a:off x="777240" y="398678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Layer C title"/>
          <p:cNvSpPr txBox="1"/>
          <p:nvPr/>
        </p:nvSpPr>
        <p:spPr>
          <a:xfrm>
            <a:off x="1554480" y="3904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Global ratings</a:t>
            </a:r>
            <a:endParaRPr lang="en-US" sz="1800" dirty="0"/>
          </a:p>
        </p:txBody>
      </p:sp>
      <p:sp>
        <p:nvSpPr>
          <p:cNvPr id="14" name="Layer C text"/>
          <p:cNvSpPr txBox="1"/>
          <p:nvPr/>
        </p:nvSpPr>
        <p:spPr>
          <a:xfrm>
            <a:off x="1554480" y="4279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Six domains, each rated 1–5.</a:t>
            </a:r>
            <a:endParaRPr lang="en-US" sz="1500" dirty="0"/>
          </a:p>
        </p:txBody>
      </p:sp>
      <p:sp>
        <p:nvSpPr>
          <p:cNvPr id="15" name="Layer D card"/>
          <p:cNvSpPr/>
          <p:nvPr/>
        </p:nvSpPr>
        <p:spPr>
          <a:xfrm>
            <a:off x="548640" y="4937760"/>
            <a:ext cx="539496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6" name="Layer D badge"/>
          <p:cNvSpPr/>
          <p:nvPr/>
        </p:nvSpPr>
        <p:spPr>
          <a:xfrm>
            <a:off x="777240" y="517550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Layer D title"/>
          <p:cNvSpPr txBox="1"/>
          <p:nvPr/>
        </p:nvSpPr>
        <p:spPr>
          <a:xfrm>
            <a:off x="1554480" y="5093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Outcome</a:t>
            </a:r>
            <a:endParaRPr lang="en-US" sz="1800" dirty="0"/>
          </a:p>
        </p:txBody>
      </p:sp>
      <p:sp>
        <p:nvSpPr>
          <p:cNvPr id="18" name="Layer D text"/>
          <p:cNvSpPr txBox="1"/>
          <p:nvPr/>
        </p:nvSpPr>
        <p:spPr>
          <a:xfrm>
            <a:off x="1554480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the simulated patient did.</a:t>
            </a:r>
            <a:endParaRPr lang="en-US" sz="1500" dirty="0"/>
          </a:p>
        </p:txBody>
      </p:sp>
      <p:graphicFrame>
        <p:nvGraphicFramePr>
          <p:cNvPr id="19" name="Chart weight by domain" descr=""/>
          <p:cNvGraphicFramePr/>
          <p:nvPr/>
        </p:nvGraphicFramePr>
        <p:xfrm>
          <a:off x="6309360" y="132588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coring note"/>
          <p:cNvSpPr txBox="1"/>
          <p:nvPr/>
        </p:nvSpPr>
        <p:spPr>
          <a:xfrm>
            <a:off x="6309360" y="5623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Scored item by item, with evidence. Outlier runs are flagged, not averaged away.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Worked example: appendicitis, 8 hours to act</a:t>
            </a:r>
            <a:endParaRPr lang="en-US" sz="3400" dirty="0"/>
          </a:p>
        </p:txBody>
      </p:sp>
      <p:sp>
        <p:nvSpPr>
          <p:cNvPr id="3" name="Scenario card"/>
          <p:cNvSpPr/>
          <p:nvPr/>
        </p:nvSpPr>
        <p:spPr>
          <a:xfrm>
            <a:off x="548640" y="1371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Patient circle"/>
          <p:cNvSpPr/>
          <p:nvPr/>
        </p:nvSpPr>
        <p:spPr>
          <a:xfrm>
            <a:off x="777240" y="1572768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Pati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1794967"/>
            <a:ext cx="378562" cy="378562"/>
          </a:xfrm>
          <a:prstGeom prst="rect">
            <a:avLst/>
          </a:prstGeom>
        </p:spPr>
      </p:pic>
      <p:sp>
        <p:nvSpPr>
          <p:cNvPr id="6" name="Scenario summary"/>
          <p:cNvSpPr txBox="1"/>
          <p:nvPr/>
        </p:nvSpPr>
        <p:spPr>
          <a:xfrm>
            <a:off x="1783080" y="153619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Kenji Arakawa, 45 (synthetic crewmember)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Presented by a non-physician CMO who omits details unless asked. Penicillin allergy.</a:t>
            </a:r>
            <a:endParaRPr lang="en-US" sz="1400" dirty="0"/>
          </a:p>
        </p:txBody>
      </p:sp>
      <p:sp>
        <p:nvSpPr>
          <p:cNvPr id="7" name="Timeline axis"/>
          <p:cNvSpPr/>
          <p:nvPr/>
        </p:nvSpPr>
        <p:spPr>
          <a:xfrm>
            <a:off x="1417320" y="3017520"/>
            <a:ext cx="0" cy="29718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Event 1 dot"/>
          <p:cNvSpPr/>
          <p:nvPr/>
        </p:nvSpPr>
        <p:spPr>
          <a:xfrm>
            <a:off x="1307592" y="299923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Event 1 time"/>
          <p:cNvSpPr txBox="1"/>
          <p:nvPr/>
        </p:nvSpPr>
        <p:spPr>
          <a:xfrm>
            <a:off x="548640" y="2880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T+0</a:t>
            </a:r>
            <a:endParaRPr lang="en-US" sz="1400" dirty="0"/>
          </a:p>
        </p:txBody>
      </p:sp>
      <p:sp>
        <p:nvSpPr>
          <p:cNvPr id="10" name="Event 1 text"/>
          <p:cNvSpPr txBox="1"/>
          <p:nvPr/>
        </p:nvSpPr>
        <p:spPr>
          <a:xfrm>
            <a:off x="173736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Periumbilical pain and anorexia; patient blames food</a:t>
            </a:r>
            <a:endParaRPr lang="en-US" sz="1400" dirty="0"/>
          </a:p>
        </p:txBody>
      </p:sp>
      <p:sp>
        <p:nvSpPr>
          <p:cNvPr id="11" name="Event 2 dot"/>
          <p:cNvSpPr/>
          <p:nvPr/>
        </p:nvSpPr>
        <p:spPr>
          <a:xfrm>
            <a:off x="1307592" y="3666744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Event 2 time"/>
          <p:cNvSpPr txBox="1"/>
          <p:nvPr/>
        </p:nvSpPr>
        <p:spPr>
          <a:xfrm>
            <a:off x="548640" y="35478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T+6h</a:t>
            </a:r>
            <a:endParaRPr lang="en-US" sz="1400" dirty="0"/>
          </a:p>
        </p:txBody>
      </p:sp>
      <p:sp>
        <p:nvSpPr>
          <p:cNvPr id="13" name="Event 2 text"/>
          <p:cNvSpPr txBox="1"/>
          <p:nvPr/>
        </p:nvSpPr>
        <p:spPr>
          <a:xfrm>
            <a:off x="1737360" y="35478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Pain migrates to the right lower quadrant</a:t>
            </a:r>
            <a:endParaRPr lang="en-US" sz="1400" dirty="0"/>
          </a:p>
        </p:txBody>
      </p:sp>
      <p:sp>
        <p:nvSpPr>
          <p:cNvPr id="14" name="Event 3 dot"/>
          <p:cNvSpPr/>
          <p:nvPr/>
        </p:nvSpPr>
        <p:spPr>
          <a:xfrm>
            <a:off x="1307592" y="433425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Event 3 time"/>
          <p:cNvSpPr txBox="1"/>
          <p:nvPr/>
        </p:nvSpPr>
        <p:spPr>
          <a:xfrm>
            <a:off x="548640" y="42153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T+8h</a:t>
            </a:r>
            <a:endParaRPr lang="en-US" sz="1400" dirty="0"/>
          </a:p>
        </p:txBody>
      </p:sp>
      <p:sp>
        <p:nvSpPr>
          <p:cNvPr id="16" name="Event 3 text"/>
          <p:cNvSpPr txBox="1"/>
          <p:nvPr/>
        </p:nvSpPr>
        <p:spPr>
          <a:xfrm>
            <a:off x="1737360" y="4215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Deadline: antibiotics with enteric coverage</a:t>
            </a:r>
            <a:endParaRPr lang="en-US" sz="1400" dirty="0"/>
          </a:p>
        </p:txBody>
      </p:sp>
      <p:sp>
        <p:nvSpPr>
          <p:cNvPr id="17" name="Event 4 dot"/>
          <p:cNvSpPr/>
          <p:nvPr/>
        </p:nvSpPr>
        <p:spPr>
          <a:xfrm>
            <a:off x="1307592" y="5001768"/>
            <a:ext cx="219456" cy="21945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Event 4 time"/>
          <p:cNvSpPr txBox="1"/>
          <p:nvPr/>
        </p:nvSpPr>
        <p:spPr>
          <a:xfrm>
            <a:off x="54864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T+36h</a:t>
            </a:r>
            <a:endParaRPr lang="en-US" sz="1400" dirty="0"/>
          </a:p>
        </p:txBody>
      </p:sp>
      <p:sp>
        <p:nvSpPr>
          <p:cNvPr id="19" name="Event 4 text"/>
          <p:cNvSpPr txBox="1"/>
          <p:nvPr/>
        </p:nvSpPr>
        <p:spPr>
          <a:xfrm>
            <a:off x="1737360" y="48828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Complication event if untreated: perforation and peritonitis</a:t>
            </a:r>
            <a:endParaRPr lang="en-US" sz="1400" dirty="0"/>
          </a:p>
        </p:txBody>
      </p:sp>
      <p:sp>
        <p:nvSpPr>
          <p:cNvPr id="20" name="Event 5 dot"/>
          <p:cNvSpPr/>
          <p:nvPr/>
        </p:nvSpPr>
        <p:spPr>
          <a:xfrm>
            <a:off x="1307592" y="5669280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Event 5 time"/>
          <p:cNvSpPr txBox="1"/>
          <p:nvPr/>
        </p:nvSpPr>
        <p:spPr>
          <a:xfrm>
            <a:off x="548640" y="55504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T+4d</a:t>
            </a:r>
            <a:endParaRPr lang="en-US" sz="1400" dirty="0"/>
          </a:p>
        </p:txBody>
      </p:sp>
      <p:sp>
        <p:nvSpPr>
          <p:cNvPr id="22" name="Event 5 text"/>
          <p:cNvSpPr txBox="1"/>
          <p:nvPr/>
        </p:nvSpPr>
        <p:spPr>
          <a:xfrm>
            <a:off x="1737360" y="5550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Scenario ends; outcome recorded from the twin</a:t>
            </a:r>
            <a:endParaRPr lang="en-US" sz="1400" dirty="0"/>
          </a:p>
        </p:txBody>
      </p:sp>
      <p:graphicFrame>
        <p:nvGraphicFramePr>
          <p:cNvPr id="23" name="Chart LOCL" descr=""/>
          <p:cNvGraphicFramePr/>
          <p:nvPr/>
        </p:nvGraphicFramePr>
        <p:xfrm>
          <a:off x="6309360" y="132588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Example note"/>
          <p:cNvSpPr txBox="1"/>
          <p:nvPr/>
        </p:nvSpPr>
        <p:spPr>
          <a:xfrm>
            <a:off x="6309360" y="5394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Scored on 19 checklist items plus the standard items, in all 8 runs. Values from the appendicitis CLiFF; pending physiologist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Plan of work: six phases, authoring to reports</a:t>
            </a:r>
            <a:endParaRPr lang="en-US" sz="3400" dirty="0"/>
          </a:p>
        </p:txBody>
      </p:sp>
      <p:graphicFrame>
        <p:nvGraphicFramePr>
          <p:cNvPr id="9" name="Plan of wo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251960"/>
                <a:gridCol w="3291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Phase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it builds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 when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Scenario authoring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File formats and validator; NASA library; Scenario Builder; clerk guide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clerk with no briefing builds a valid scenario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Built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A5–A7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Authoring, round 2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Second clerk round; multi-patient and triage scenarios; manual scoring sheet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Form revised from round 2; clinical lead agrees triage rules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Runner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Adapter for any assistant; MCP tools; AI crewmember; 8-run batches on a simple twin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One scenario runs end to end on the laptop overnight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Per-run scorer; judge across runs; viewer that opens each anomaly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Judge report with working links to the evidence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Digital twin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CLiFF course model; drug effects; complication events; simulated clock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Outcomes over many runs match the CLiFF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Reports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Medical and technical reports; scorer checked against clerk scoring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Scorer–clerk agreement reported per item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Planned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lan note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 and C run on a simple, static twin first, so scoring can be tested early; D then swaps in the full physiology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we need to keep moving</a:t>
            </a:r>
            <a:endParaRPr lang="en-US" sz="3400" dirty="0"/>
          </a:p>
        </p:txBody>
      </p:sp>
      <p:sp>
        <p:nvSpPr>
          <p:cNvPr id="3" name="Ask 1 card"/>
          <p:cNvSpPr/>
          <p:nvPr/>
        </p:nvSpPr>
        <p:spPr>
          <a:xfrm>
            <a:off x="54864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4" name="Ask 1 circle"/>
          <p:cNvSpPr/>
          <p:nvPr/>
        </p:nvSpPr>
        <p:spPr>
          <a:xfrm>
            <a:off x="82296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s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2017624"/>
            <a:ext cx="399593" cy="399593"/>
          </a:xfrm>
          <a:prstGeom prst="rect">
            <a:avLst/>
          </a:prstGeom>
        </p:spPr>
      </p:pic>
      <p:sp>
        <p:nvSpPr>
          <p:cNvPr id="6" name="Ask 1 title"/>
          <p:cNvSpPr txBox="1"/>
          <p:nvPr/>
        </p:nvSpPr>
        <p:spPr>
          <a:xfrm>
            <a:off x="82296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Clerks</a:t>
            </a:r>
            <a:endParaRPr lang="en-US" sz="1900" dirty="0"/>
          </a:p>
        </p:txBody>
      </p:sp>
      <p:sp>
        <p:nvSpPr>
          <p:cNvPr id="7" name="Ask 1 text"/>
          <p:cNvSpPr txBox="1"/>
          <p:nvPr/>
        </p:nvSpPr>
        <p:spPr>
          <a:xfrm>
            <a:off x="82296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second round of scenarios on the Scenario Builder, with time per scenario recorded</a:t>
            </a:r>
            <a:endParaRPr lang="en-US" sz="1500" dirty="0"/>
          </a:p>
        </p:txBody>
      </p:sp>
      <p:sp>
        <p:nvSpPr>
          <p:cNvPr id="8" name="Ask 2 card"/>
          <p:cNvSpPr/>
          <p:nvPr/>
        </p:nvSpPr>
        <p:spPr>
          <a:xfrm>
            <a:off x="338328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9" name="Ask 2 circle"/>
          <p:cNvSpPr/>
          <p:nvPr/>
        </p:nvSpPr>
        <p:spPr>
          <a:xfrm>
            <a:off x="365760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s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144" y="2017624"/>
            <a:ext cx="399593" cy="399593"/>
          </a:xfrm>
          <a:prstGeom prst="rect">
            <a:avLst/>
          </a:prstGeom>
        </p:spPr>
      </p:pic>
      <p:sp>
        <p:nvSpPr>
          <p:cNvPr id="11" name="Ask 2 title"/>
          <p:cNvSpPr txBox="1"/>
          <p:nvPr/>
        </p:nvSpPr>
        <p:spPr>
          <a:xfrm>
            <a:off x="365760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Clinical lead</a:t>
            </a:r>
            <a:endParaRPr lang="en-US" sz="1900" dirty="0"/>
          </a:p>
        </p:txBody>
      </p:sp>
      <p:sp>
        <p:nvSpPr>
          <p:cNvPr id="12" name="Ask 2 text"/>
          <p:cNvSpPr txBox="1"/>
          <p:nvPr/>
        </p:nvSpPr>
        <p:spPr>
          <a:xfrm>
            <a:off x="365760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Review the rubric: critical errors, rating anchors and dose tolerance</a:t>
            </a:r>
            <a:endParaRPr lang="en-US" sz="1500" dirty="0"/>
          </a:p>
        </p:txBody>
      </p:sp>
      <p:sp>
        <p:nvSpPr>
          <p:cNvPr id="13" name="Ask 3 card"/>
          <p:cNvSpPr/>
          <p:nvPr/>
        </p:nvSpPr>
        <p:spPr>
          <a:xfrm>
            <a:off x="621792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14" name="Ask 3 circle"/>
          <p:cNvSpPr/>
          <p:nvPr/>
        </p:nvSpPr>
        <p:spPr>
          <a:xfrm>
            <a:off x="649224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As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6784" y="2017624"/>
            <a:ext cx="399593" cy="399593"/>
          </a:xfrm>
          <a:prstGeom prst="rect">
            <a:avLst/>
          </a:prstGeom>
        </p:spPr>
      </p:pic>
      <p:sp>
        <p:nvSpPr>
          <p:cNvPr id="16" name="Ask 3 title"/>
          <p:cNvSpPr txBox="1"/>
          <p:nvPr/>
        </p:nvSpPr>
        <p:spPr>
          <a:xfrm>
            <a:off x="649224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Physiologist</a:t>
            </a:r>
            <a:endParaRPr lang="en-US" sz="1900" dirty="0"/>
          </a:p>
        </p:txBody>
      </p:sp>
      <p:sp>
        <p:nvSpPr>
          <p:cNvPr id="17" name="Ask 3 text"/>
          <p:cNvSpPr txBox="1"/>
          <p:nvPr/>
        </p:nvSpPr>
        <p:spPr>
          <a:xfrm>
            <a:off x="649224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Check the CLiFF course numbers and the crew baselines</a:t>
            </a:r>
            <a:endParaRPr lang="en-US" sz="1500" dirty="0"/>
          </a:p>
        </p:txBody>
      </p:sp>
      <p:sp>
        <p:nvSpPr>
          <p:cNvPr id="18" name="Ask 4 card"/>
          <p:cNvSpPr/>
          <p:nvPr/>
        </p:nvSpPr>
        <p:spPr>
          <a:xfrm>
            <a:off x="9052560" y="1463040"/>
            <a:ext cx="2651760" cy="315468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/>
        </p:spPr>
      </p:sp>
      <p:sp>
        <p:nvSpPr>
          <p:cNvPr id="19" name="Ask 4 circle"/>
          <p:cNvSpPr/>
          <p:nvPr/>
        </p:nvSpPr>
        <p:spPr>
          <a:xfrm>
            <a:off x="932688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Ask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1424" y="2017624"/>
            <a:ext cx="399593" cy="399593"/>
          </a:xfrm>
          <a:prstGeom prst="rect">
            <a:avLst/>
          </a:prstGeom>
        </p:spPr>
      </p:pic>
      <p:sp>
        <p:nvSpPr>
          <p:cNvPr id="21" name="Ask 4 title"/>
          <p:cNvSpPr txBox="1"/>
          <p:nvPr/>
        </p:nvSpPr>
        <p:spPr>
          <a:xfrm>
            <a:off x="9326880" y="28803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CMO-DA team</a:t>
            </a:r>
            <a:endParaRPr lang="en-US" sz="1900" dirty="0"/>
          </a:p>
        </p:txBody>
      </p:sp>
      <p:sp>
        <p:nvSpPr>
          <p:cNvPr id="22" name="Ask 4 text"/>
          <p:cNvSpPr txBox="1"/>
          <p:nvPr/>
        </p:nvSpPr>
        <p:spPr>
          <a:xfrm>
            <a:off x="932688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Share the interface spec before the runner (Phase B) is built</a:t>
            </a:r>
            <a:endParaRPr lang="en-US" sz="1500" dirty="0"/>
          </a:p>
        </p:txBody>
      </p:sp>
      <p:sp>
        <p:nvSpPr>
          <p:cNvPr id="23" name="Closing note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Scenario Builder is ready for clerks now: one offline file, no install.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im Charcoal">
  <a:themeElements>
    <a:clrScheme name="MedSim Charcoal">
      <a:dk1>
        <a:srgbClr val="1F2328"/>
      </a:dk1>
      <a:lt1>
        <a:srgbClr val="FFFFFF"/>
      </a:lt1>
      <a:dk2>
        <a:srgbClr val="2E3A42"/>
      </a:dk2>
      <a:lt2>
        <a:srgbClr val="EDF0F2"/>
      </a:lt2>
      <a:accent1>
        <a:srgbClr val="E07B39"/>
      </a:accent1>
      <a:accent2>
        <a:srgbClr val="8796A3"/>
      </a:accent2>
      <a:accent3>
        <a:srgbClr val="56636D"/>
      </a:accent3>
      <a:accent4>
        <a:srgbClr val="B7C1C9"/>
      </a:accent4>
      <a:accent5>
        <a:srgbClr val="C4622A"/>
      </a:accent5>
      <a:accent6>
        <a:srgbClr val="3F4B54"/>
      </a:accent6>
      <a:hlink>
        <a:srgbClr val="C4622A"/>
      </a:hlink>
      <a:folHlink>
        <a:srgbClr val="7D6B91"/>
      </a:folHlink>
    </a:clrScheme>
    <a:fontScheme name="MedSim Charco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MedSim Eval: overview</dc:title>
  <dc:subject>Evaluation system for space-medicine digital assistants</dc:subject>
  <dc:creator>PptxGenJS</dc:creator>
  <cp:lastModifiedBy>PptxGenJS</cp:lastModifiedBy>
  <cp:revision>1</cp:revision>
  <dcterms:created xsi:type="dcterms:W3CDTF">2026-10-30T15:05:17Z</dcterms:created>
  <dcterms:modified xsi:type="dcterms:W3CDTF">2026-10-30T15:05:17Z</dcterms:modified>
</cp:coreProperties>
</file>