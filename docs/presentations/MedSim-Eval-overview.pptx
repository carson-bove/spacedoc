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74e372ad-58a1-2af8-802d-f6d862456454}">
          <p14:sldIdLst>
            <p14:sldId id="256"/>
            <p14:sldId id="257"/>
          </p14:sldIdLst>
        </p14:section>
        <p14:section name="How it works" id="{7c36ede4-c70f-a52f-64be-cbb48784ba8b}">
          <p14:sldIdLst>
            <p14:sldId id="258"/>
            <p14:sldId id="259"/>
            <p14:sldId id="260"/>
            <p14:sldId id="261"/>
          </p14:sldIdLst>
        </p14:section>
        <p14:section name="Example and status" id="{1c56766e-b41c-6249-a1c3-1810bc124291}">
          <p14:sldIdLst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1" i="0" u="none" strike="noStrike">
                <a:solidFill>
                  <a:schemeClr val="tx2"/>
                </a:solidFill>
                <a:latin typeface="+mn-lt"/>
              </a:defRPr>
            </a:pPr>
            <a:r>
              <a:rPr sz="1500" b="1" i="0" u="none" strike="noStrike">
                <a:solidFill>
                  <a:schemeClr val="tx2"/>
                </a:solidFill>
                <a:latin typeface="+mn-lt"/>
              </a:rPr>
              <a:t>Conditions possible per environment (of 118)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Conditions</c:v>
                </c:pt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Low Earth orbit</c:v>
                  </c:pt>
                  <c:pt idx="1">
                    <c:v>Cislunar space</c:v>
                  </c:pt>
                  <c:pt idx="2">
                    <c:v>Lunar surface</c:v>
                  </c:pt>
                  <c:pt idx="3">
                    <c:v>Mars transit</c:v>
                  </c:pt>
                  <c:pt idx="4">
                    <c:v>Mars surface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89</c:v>
                </c:pt>
                <c:pt idx="2">
                  <c:v>108</c:v>
                </c:pt>
                <c:pt idx="3">
                  <c:v>89</c:v>
                </c:pt>
                <c:pt idx="4">
                  <c:v>106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chemeClr val="tx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chemeClr val="tx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chemeClr val="accent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1" i="0" u="none" strike="noStrike">
                <a:solidFill>
                  <a:schemeClr val="tx2"/>
                </a:solidFill>
                <a:latin typeface="+mn-lt"/>
              </a:defRPr>
            </a:pPr>
            <a:r>
              <a:rPr sz="1500" b="1" i="0" u="none" strike="noStrike">
                <a:solidFill>
                  <a:schemeClr val="tx2"/>
                </a:solidFill>
                <a:latin typeface="+mn-lt"/>
              </a:rPr>
              <a:t>Medical kit aboard, by vehicle (item types)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Drugs</c:v>
                </c:pt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ISS</c:v>
                  </c:pt>
                  <c:pt idx="1">
                    <c:v>Orion</c:v>
                  </c:pt>
                  <c:pt idx="2">
                    <c:v>Lunar lander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84</c:v>
                </c:pt>
                <c:pt idx="1">
                  <c:v>55</c:v>
                </c:pt>
                <c:pt idx="2">
                  <c:v>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chemeClr val="accent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ISS</c:v>
                  </c:pt>
                  <c:pt idx="1">
                    <c:v>Orion</c:v>
                  </c:pt>
                  <c:pt idx="2">
                    <c:v>Lunar lander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142</c:v>
                </c:pt>
                <c:pt idx="1">
                  <c:v>62</c:v>
                </c:pt>
                <c:pt idx="2">
                  <c:v>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chemeClr val="tx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chemeClr val="tx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chemeClr val="accent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chemeClr val="tx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1" i="0" u="none" strike="noStrike">
                <a:solidFill>
                  <a:schemeClr val="tx2"/>
                </a:solidFill>
                <a:latin typeface="+mn-lt"/>
              </a:defRPr>
            </a:pPr>
            <a:r>
              <a:rPr sz="1500" b="1" i="0" u="none" strike="noStrike">
                <a:solidFill>
                  <a:schemeClr val="tx2"/>
                </a:solidFill>
                <a:latin typeface="+mn-lt"/>
              </a:rPr>
              <a:t>Worked example: checklist weight by domain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Expected actions (points)</c:v>
                </c:pt>
              </c:strCache>
            </c:strRef>
          </c:tx>
          <c:spPr>
            <a:solidFill>
              <a:schemeClr val="tx2"/>
            </a:solidFill>
            <a:effectLst/>
          </c:spPr>
          <c:invertIfNegative val="0"/>
          <c:dLbls>
            <c:numFmt formatCode="0;-0;;@" sourceLinked="0"/>
            <c:txPr>
              <a:bodyPr/>
              <a:lstStyle/>
              <a:p>
                <a:pPr>
                  <a:defRPr b="0" i="0" strike="noStrike" sz="1300" u="non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Information gathering</c:v>
                  </c:pt>
                  <c:pt idx="1">
                    <c:v>Diagnostic reasoning</c:v>
                  </c:pt>
                  <c:pt idx="2">
                    <c:v>Management</c:v>
                  </c:pt>
                  <c:pt idx="3">
                    <c:v>Safety and escalation</c:v>
                  </c:pt>
                  <c:pt idx="4">
                    <c:v>Environment and resources</c:v>
                  </c:pt>
                  <c:pt idx="5">
                    <c:v>Communication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</c:v>
                </c:pt>
                <c:pt idx="1">
                  <c:v>12</c:v>
                </c:pt>
                <c:pt idx="2">
                  <c:v>16</c:v>
                </c:pt>
                <c:pt idx="3">
                  <c:v>10</c:v>
                </c:pt>
                <c:pt idx="4">
                  <c:v>3</c:v>
                </c:pt>
                <c:pt idx="5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Errors (penalty)</c:v>
                </c:pt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Lbls>
            <c:numFmt formatCode="0;-0;;@" sourceLinked="0"/>
            <c:txPr>
              <a:bodyPr/>
              <a:lstStyle/>
              <a:p>
                <a:pPr>
                  <a:defRPr b="0" i="0" strike="noStrike" sz="1300" u="non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Information gathering</c:v>
                  </c:pt>
                  <c:pt idx="1">
                    <c:v>Diagnostic reasoning</c:v>
                  </c:pt>
                  <c:pt idx="2">
                    <c:v>Management</c:v>
                  </c:pt>
                  <c:pt idx="3">
                    <c:v>Safety and escalation</c:v>
                  </c:pt>
                  <c:pt idx="4">
                    <c:v>Environment and resources</c:v>
                  </c:pt>
                  <c:pt idx="5">
                    <c:v>Communication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6</c:v>
                </c:pt>
                <c:pt idx="2">
                  <c:v>4</c:v>
                </c:pt>
                <c:pt idx="3">
                  <c:v>0</c:v>
                </c:pt>
                <c:pt idx="4">
                  <c:v>13</c:v>
                </c:pt>
                <c:pt idx="5">
                  <c:v>0</c:v>
                </c:pt>
              </c:numCache>
            </c:numRef>
          </c:val>
        </c:ser>
        <c:dLbls>
          <c:numFmt formatCode="0;-0;;@" sourceLinked="0"/>
          <c:txPr>
            <a:bodyPr/>
            <a:lstStyle/>
            <a:p>
              <a:pPr>
                <a:defRPr b="0" i="0" strike="noStrike" sz="1300" u="none">
                  <a:solidFill>
                    <a:schemeClr val="tx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chemeClr val="tx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chemeClr val="accent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chemeClr val="tx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1" i="0" u="none" strike="noStrike">
                <a:solidFill>
                  <a:schemeClr val="tx2"/>
                </a:solidFill>
                <a:latin typeface="+mn-lt"/>
              </a:defRPr>
            </a:pPr>
            <a:r>
              <a:rPr sz="1500" b="1" i="0" u="none" strike="noStrike">
                <a:solidFill>
                  <a:schemeClr val="tx2"/>
                </a:solidFill>
                <a:latin typeface="+mn-lt"/>
              </a:rPr>
              <a:t>Worst case: risk of loss of crew life (maximum)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Risk of loss of crew life</c:v>
                </c:pt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600" u="non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Treated in time</c:v>
                  </c:pt>
                  <c:pt idx="1">
                    <c:v>Untreated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8.7</c:v>
                </c:pt>
                <c:pt idx="1">
                  <c:v>50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600" u="none">
                  <a:solidFill>
                    <a:schemeClr val="tx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chemeClr val="tx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chemeClr val="accent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82880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383280"/>
            <a:ext cx="74980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4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5760720"/>
            <a:ext cx="73152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MedSim Eval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MedSim Eval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MedSim Eval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38328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Testing space-medicine assistants in simulated missions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5760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Overview · evaluation stack and Phase A status</a:t>
            </a:r>
            <a:endParaRPr lang="en-US" sz="1400" dirty="0"/>
          </a:p>
        </p:txBody>
      </p:sp>
      <p:sp>
        <p:nvSpPr>
          <p:cNvPr id="5" name="Orbit outer"/>
          <p:cNvSpPr/>
          <p:nvPr/>
        </p:nvSpPr>
        <p:spPr>
          <a:xfrm>
            <a:off x="8503920" y="914400"/>
            <a:ext cx="5120640" cy="5120640"/>
          </a:xfrm>
          <a:prstGeom prst="ellipse">
            <a:avLst/>
          </a:prstGeom>
          <a:ln w="19050">
            <a:solidFill>
              <a:schemeClr val="accent3"/>
            </a:solidFill>
            <a:prstDash val="solid"/>
          </a:ln>
        </p:spPr>
      </p:sp>
      <p:sp>
        <p:nvSpPr>
          <p:cNvPr id="6" name="Orbit inner"/>
          <p:cNvSpPr/>
          <p:nvPr/>
        </p:nvSpPr>
        <p:spPr>
          <a:xfrm>
            <a:off x="9464040" y="1874520"/>
            <a:ext cx="3200400" cy="3200400"/>
          </a:xfrm>
          <a:prstGeom prst="ellipse">
            <a:avLst/>
          </a:prstGeom>
          <a:ln w="19050">
            <a:solidFill>
              <a:schemeClr val="accent3"/>
            </a:solidFill>
            <a:prstDash val="solid"/>
          </a:ln>
        </p:spPr>
      </p:sp>
      <p:sp>
        <p:nvSpPr>
          <p:cNvPr id="7" name="Planet"/>
          <p:cNvSpPr/>
          <p:nvPr/>
        </p:nvSpPr>
        <p:spPr>
          <a:xfrm>
            <a:off x="10469880" y="2880360"/>
            <a:ext cx="1188720" cy="11887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Moon"/>
          <p:cNvSpPr/>
          <p:nvPr/>
        </p:nvSpPr>
        <p:spPr>
          <a:xfrm>
            <a:off x="8732520" y="1691640"/>
            <a:ext cx="384048" cy="384048"/>
          </a:xfrm>
          <a:prstGeom prst="ellipse">
            <a:avLst/>
          </a:prstGeom>
          <a:solidFill>
            <a:schemeClr val="bg1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Why one-off test questions aren't enough</a:t>
            </a:r>
            <a:endParaRPr lang="en-US" sz="3400" dirty="0"/>
          </a:p>
        </p:txBody>
      </p:sp>
      <p:sp>
        <p:nvSpPr>
          <p:cNvPr id="3" name="Gap 1 card"/>
          <p:cNvSpPr/>
          <p:nvPr/>
        </p:nvSpPr>
        <p:spPr>
          <a:xfrm>
            <a:off x="548640" y="1463040"/>
            <a:ext cx="685800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4" name="Gap 1 circle"/>
          <p:cNvSpPr/>
          <p:nvPr/>
        </p:nvSpPr>
        <p:spPr>
          <a:xfrm>
            <a:off x="822960" y="173736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Gap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504" y="1971904"/>
            <a:ext cx="399593" cy="399593"/>
          </a:xfrm>
          <a:prstGeom prst="rect">
            <a:avLst/>
          </a:prstGeom>
        </p:spPr>
      </p:pic>
      <p:sp>
        <p:nvSpPr>
          <p:cNvPr id="6" name="Gap 1 title"/>
          <p:cNvSpPr txBox="1"/>
          <p:nvPr/>
        </p:nvSpPr>
        <p:spPr>
          <a:xfrm>
            <a:off x="1965960" y="1719072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 patient who changes</a:t>
            </a:r>
            <a:endParaRPr lang="en-US" sz="2000" dirty="0"/>
          </a:p>
        </p:txBody>
      </p:sp>
      <p:sp>
        <p:nvSpPr>
          <p:cNvPr id="7" name="Gap 1 text"/>
          <p:cNvSpPr txBox="1"/>
          <p:nvPr/>
        </p:nvSpPr>
        <p:spPr>
          <a:xfrm>
            <a:off x="1965960" y="2176272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Gets better or worse depending on what the assistant advises, hour by hour.</a:t>
            </a:r>
            <a:endParaRPr lang="en-US" sz="1500" dirty="0"/>
          </a:p>
        </p:txBody>
      </p:sp>
      <p:sp>
        <p:nvSpPr>
          <p:cNvPr id="8" name="Gap 2 card"/>
          <p:cNvSpPr/>
          <p:nvPr/>
        </p:nvSpPr>
        <p:spPr>
          <a:xfrm>
            <a:off x="548640" y="3063240"/>
            <a:ext cx="685800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9" name="Gap 2 circle"/>
          <p:cNvSpPr/>
          <p:nvPr/>
        </p:nvSpPr>
        <p:spPr>
          <a:xfrm>
            <a:off x="822960" y="333756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Gap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504" y="3572104"/>
            <a:ext cx="399593" cy="399593"/>
          </a:xfrm>
          <a:prstGeom prst="rect">
            <a:avLst/>
          </a:prstGeom>
        </p:spPr>
      </p:pic>
      <p:sp>
        <p:nvSpPr>
          <p:cNvPr id="11" name="Gap 2 title"/>
          <p:cNvSpPr txBox="1"/>
          <p:nvPr/>
        </p:nvSpPr>
        <p:spPr>
          <a:xfrm>
            <a:off x="1965960" y="3319272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 mission around the patient</a:t>
            </a:r>
            <a:endParaRPr lang="en-US" sz="2000" dirty="0"/>
          </a:p>
        </p:txBody>
      </p:sp>
      <p:sp>
        <p:nvSpPr>
          <p:cNvPr id="12" name="Gap 2 text"/>
          <p:cNvSpPr txBox="1"/>
          <p:nvPr/>
        </p:nvSpPr>
        <p:spPr>
          <a:xfrm>
            <a:off x="1965960" y="3776472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Solar particle events, dust storms, communication blackouts, failed equipment.</a:t>
            </a:r>
            <a:endParaRPr lang="en-US" sz="1500" dirty="0"/>
          </a:p>
        </p:txBody>
      </p:sp>
      <p:sp>
        <p:nvSpPr>
          <p:cNvPr id="13" name="Gap 3 card"/>
          <p:cNvSpPr/>
          <p:nvPr/>
        </p:nvSpPr>
        <p:spPr>
          <a:xfrm>
            <a:off x="548640" y="4663440"/>
            <a:ext cx="685800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14" name="Gap 3 circle"/>
          <p:cNvSpPr/>
          <p:nvPr/>
        </p:nvSpPr>
        <p:spPr>
          <a:xfrm>
            <a:off x="822960" y="493776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Gap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504" y="5172304"/>
            <a:ext cx="399593" cy="399593"/>
          </a:xfrm>
          <a:prstGeom prst="rect">
            <a:avLst/>
          </a:prstGeom>
        </p:spPr>
      </p:pic>
      <p:sp>
        <p:nvSpPr>
          <p:cNvPr id="16" name="Gap 3 title"/>
          <p:cNvSpPr txBox="1"/>
          <p:nvPr/>
        </p:nvSpPr>
        <p:spPr>
          <a:xfrm>
            <a:off x="1965960" y="4919472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Volume</a:t>
            </a:r>
            <a:endParaRPr lang="en-US" sz="2000" dirty="0"/>
          </a:p>
        </p:txBody>
      </p:sp>
      <p:sp>
        <p:nvSpPr>
          <p:cNvPr id="17" name="Gap 3 text"/>
          <p:cNvSpPr txBox="1"/>
          <p:nvPr/>
        </p:nvSpPr>
        <p:spPr>
          <a:xfrm>
            <a:off x="1965960" y="5376672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Many runs per case, so behaviour shows up as a distribution, not one lucky answer.</a:t>
            </a:r>
            <a:endParaRPr lang="en-US" sz="1500" dirty="0"/>
          </a:p>
        </p:txBody>
      </p:sp>
      <p:sp>
        <p:nvSpPr>
          <p:cNvPr id="18" name="Delay panel"/>
          <p:cNvSpPr/>
          <p:nvPr/>
        </p:nvSpPr>
        <p:spPr>
          <a:xfrm>
            <a:off x="7772400" y="1463040"/>
            <a:ext cx="3840480" cy="4617720"/>
          </a:xfrm>
          <a:prstGeom prst="roundRect">
            <a:avLst>
              <a:gd name="adj" fmla="val 1905"/>
            </a:avLst>
          </a:prstGeom>
          <a:solidFill>
            <a:schemeClr val="tx2"/>
          </a:solidFill>
          <a:ln/>
        </p:spPr>
      </p:sp>
      <p:sp>
        <p:nvSpPr>
          <p:cNvPr id="19" name="Delay stat"/>
          <p:cNvSpPr txBox="1"/>
          <p:nvPr/>
        </p:nvSpPr>
        <p:spPr>
          <a:xfrm>
            <a:off x="8138160" y="210312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23 min</a:t>
            </a:r>
            <a:endParaRPr lang="en-US" sz="6600" dirty="0"/>
          </a:p>
        </p:txBody>
      </p:sp>
      <p:sp>
        <p:nvSpPr>
          <p:cNvPr id="20" name="Delay label"/>
          <p:cNvSpPr txBox="1"/>
          <p:nvPr/>
        </p:nvSpPr>
        <p:spPr>
          <a:xfrm>
            <a:off x="8138160" y="32918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one-way signal delay between Mars and Earth, at its longest</a:t>
            </a:r>
            <a:endParaRPr lang="en-US" sz="1800" dirty="0"/>
          </a:p>
        </p:txBody>
      </p:sp>
      <p:sp>
        <p:nvSpPr>
          <p:cNvPr id="21" name="Delay note"/>
          <p:cNvSpPr txBox="1"/>
          <p:nvPr/>
        </p:nvSpPr>
        <p:spPr>
          <a:xfrm>
            <a:off x="8138160" y="43434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From low Earth orbit it is about 1 second. Beyond the Moon, the crew and the assistant must act before the ground can answer.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One loop: author, simulate, score, review</a:t>
            </a:r>
            <a:endParaRPr lang="en-US" sz="3400" dirty="0"/>
          </a:p>
        </p:txBody>
      </p:sp>
      <p:sp>
        <p:nvSpPr>
          <p:cNvPr id="3" name="Step 1 circle"/>
          <p:cNvSpPr/>
          <p:nvPr/>
        </p:nvSpPr>
        <p:spPr>
          <a:xfrm>
            <a:off x="982980" y="1508760"/>
            <a:ext cx="1051560" cy="10515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Step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6901" y="1792681"/>
            <a:ext cx="483718" cy="483718"/>
          </a:xfrm>
          <a:prstGeom prst="rect">
            <a:avLst/>
          </a:prstGeom>
        </p:spPr>
      </p:pic>
      <p:sp>
        <p:nvSpPr>
          <p:cNvPr id="5" name="Arrow 1"/>
          <p:cNvSpPr/>
          <p:nvPr/>
        </p:nvSpPr>
        <p:spPr>
          <a:xfrm>
            <a:off x="2144268" y="2034540"/>
            <a:ext cx="1014984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6" name="Step 1 title"/>
          <p:cNvSpPr txBox="1"/>
          <p:nvPr/>
        </p:nvSpPr>
        <p:spPr>
          <a:xfrm>
            <a:off x="548640" y="27432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Author</a:t>
            </a:r>
            <a:endParaRPr lang="en-US" sz="1900" dirty="0"/>
          </a:p>
        </p:txBody>
      </p:sp>
      <p:sp>
        <p:nvSpPr>
          <p:cNvPr id="7" name="Step 1 text"/>
          <p:cNvSpPr txBox="1"/>
          <p:nvPr/>
        </p:nvSpPr>
        <p:spPr>
          <a:xfrm>
            <a:off x="548640" y="3200400"/>
            <a:ext cx="1920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Clerks write a case in the offline Scenario Builder</a:t>
            </a:r>
            <a:endParaRPr lang="en-US" sz="1400" dirty="0"/>
          </a:p>
        </p:txBody>
      </p:sp>
      <p:sp>
        <p:nvSpPr>
          <p:cNvPr id="8" name="Step 2 circle"/>
          <p:cNvSpPr/>
          <p:nvPr/>
        </p:nvSpPr>
        <p:spPr>
          <a:xfrm>
            <a:off x="3268980" y="1508760"/>
            <a:ext cx="1051560" cy="10515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9" name="Step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2901" y="1792681"/>
            <a:ext cx="483718" cy="483718"/>
          </a:xfrm>
          <a:prstGeom prst="rect">
            <a:avLst/>
          </a:prstGeom>
        </p:spPr>
      </p:pic>
      <p:sp>
        <p:nvSpPr>
          <p:cNvPr id="10" name="Arrow 2"/>
          <p:cNvSpPr/>
          <p:nvPr/>
        </p:nvSpPr>
        <p:spPr>
          <a:xfrm>
            <a:off x="4430268" y="2034540"/>
            <a:ext cx="1014984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1" name="Step 2 title"/>
          <p:cNvSpPr txBox="1"/>
          <p:nvPr/>
        </p:nvSpPr>
        <p:spPr>
          <a:xfrm>
            <a:off x="2834640" y="27432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Simulate</a:t>
            </a:r>
            <a:endParaRPr lang="en-US" sz="1900" dirty="0"/>
          </a:p>
        </p:txBody>
      </p:sp>
      <p:sp>
        <p:nvSpPr>
          <p:cNvPr id="12" name="Step 2 text"/>
          <p:cNvSpPr txBox="1"/>
          <p:nvPr/>
        </p:nvSpPr>
        <p:spPr>
          <a:xfrm>
            <a:off x="2834640" y="3200400"/>
            <a:ext cx="1920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Digital twin of patient, vehicle and environment, on a simulated clock</a:t>
            </a:r>
            <a:endParaRPr lang="en-US" sz="1400" dirty="0"/>
          </a:p>
        </p:txBody>
      </p:sp>
      <p:sp>
        <p:nvSpPr>
          <p:cNvPr id="13" name="Step 3 circle"/>
          <p:cNvSpPr/>
          <p:nvPr/>
        </p:nvSpPr>
        <p:spPr>
          <a:xfrm>
            <a:off x="5554980" y="1508760"/>
            <a:ext cx="1051560" cy="10515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4" name="Step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8901" y="1792681"/>
            <a:ext cx="483718" cy="483718"/>
          </a:xfrm>
          <a:prstGeom prst="rect">
            <a:avLst/>
          </a:prstGeom>
        </p:spPr>
      </p:pic>
      <p:sp>
        <p:nvSpPr>
          <p:cNvPr id="15" name="Arrow 3"/>
          <p:cNvSpPr/>
          <p:nvPr/>
        </p:nvSpPr>
        <p:spPr>
          <a:xfrm>
            <a:off x="6716268" y="2034540"/>
            <a:ext cx="1014984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6" name="Step 3 title"/>
          <p:cNvSpPr txBox="1"/>
          <p:nvPr/>
        </p:nvSpPr>
        <p:spPr>
          <a:xfrm>
            <a:off x="5120640" y="27432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Converse</a:t>
            </a:r>
            <a:endParaRPr lang="en-US" sz="1900" dirty="0"/>
          </a:p>
        </p:txBody>
      </p:sp>
      <p:sp>
        <p:nvSpPr>
          <p:cNvPr id="17" name="Step 3 text"/>
          <p:cNvSpPr txBox="1"/>
          <p:nvPr/>
        </p:nvSpPr>
        <p:spPr>
          <a:xfrm>
            <a:off x="5120640" y="3200400"/>
            <a:ext cx="1920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 AI plays the crewmember; the assistant under test responds</a:t>
            </a:r>
            <a:endParaRPr lang="en-US" sz="1400" dirty="0"/>
          </a:p>
        </p:txBody>
      </p:sp>
      <p:sp>
        <p:nvSpPr>
          <p:cNvPr id="18" name="Step 4 circle"/>
          <p:cNvSpPr/>
          <p:nvPr/>
        </p:nvSpPr>
        <p:spPr>
          <a:xfrm>
            <a:off x="7840980" y="1508760"/>
            <a:ext cx="1051560" cy="10515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9" name="Step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4901" y="1792681"/>
            <a:ext cx="483718" cy="483718"/>
          </a:xfrm>
          <a:prstGeom prst="rect">
            <a:avLst/>
          </a:prstGeom>
        </p:spPr>
      </p:pic>
      <p:sp>
        <p:nvSpPr>
          <p:cNvPr id="20" name="Arrow 4"/>
          <p:cNvSpPr/>
          <p:nvPr/>
        </p:nvSpPr>
        <p:spPr>
          <a:xfrm>
            <a:off x="9002268" y="2034540"/>
            <a:ext cx="1014984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1" name="Step 4 title"/>
          <p:cNvSpPr txBox="1"/>
          <p:nvPr/>
        </p:nvSpPr>
        <p:spPr>
          <a:xfrm>
            <a:off x="7406640" y="27432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Score</a:t>
            </a:r>
            <a:endParaRPr lang="en-US" sz="1900" dirty="0"/>
          </a:p>
        </p:txBody>
      </p:sp>
      <p:sp>
        <p:nvSpPr>
          <p:cNvPr id="22" name="Step 4 text"/>
          <p:cNvSpPr txBox="1"/>
          <p:nvPr/>
        </p:nvSpPr>
        <p:spPr>
          <a:xfrm>
            <a:off x="7406640" y="3200400"/>
            <a:ext cx="1920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Each checklist item scored one at a time, citing transcript evidence</a:t>
            </a:r>
            <a:endParaRPr lang="en-US" sz="1400" dirty="0"/>
          </a:p>
        </p:txBody>
      </p:sp>
      <p:sp>
        <p:nvSpPr>
          <p:cNvPr id="23" name="Step 5 circle"/>
          <p:cNvSpPr/>
          <p:nvPr/>
        </p:nvSpPr>
        <p:spPr>
          <a:xfrm>
            <a:off x="10126980" y="1508760"/>
            <a:ext cx="1051560" cy="10515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4" name="Step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10901" y="1792681"/>
            <a:ext cx="483718" cy="483718"/>
          </a:xfrm>
          <a:prstGeom prst="rect">
            <a:avLst/>
          </a:prstGeom>
        </p:spPr>
      </p:pic>
      <p:sp>
        <p:nvSpPr>
          <p:cNvPr id="25" name="Step 5 title"/>
          <p:cNvSpPr txBox="1"/>
          <p:nvPr/>
        </p:nvSpPr>
        <p:spPr>
          <a:xfrm>
            <a:off x="9692640" y="27432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Review</a:t>
            </a:r>
            <a:endParaRPr lang="en-US" sz="1900" dirty="0"/>
          </a:p>
        </p:txBody>
      </p:sp>
      <p:sp>
        <p:nvSpPr>
          <p:cNvPr id="26" name="Step 5 text"/>
          <p:cNvSpPr txBox="1"/>
          <p:nvPr/>
        </p:nvSpPr>
        <p:spPr>
          <a:xfrm>
            <a:off x="9692640" y="3200400"/>
            <a:ext cx="1920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judge summarises all runs and flags anomalies; clinicians review</a:t>
            </a:r>
            <a:endParaRPr lang="en-US" sz="1400" dirty="0"/>
          </a:p>
        </p:txBody>
      </p:sp>
      <p:sp>
        <p:nvSpPr>
          <p:cNvPr id="27" name="Principle 1 card"/>
          <p:cNvSpPr/>
          <p:nvPr/>
        </p:nvSpPr>
        <p:spPr>
          <a:xfrm>
            <a:off x="548640" y="4892040"/>
            <a:ext cx="356616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</p:sp>
      <p:sp>
        <p:nvSpPr>
          <p:cNvPr id="28" name="Principle 1 circle"/>
          <p:cNvSpPr/>
          <p:nvPr/>
        </p:nvSpPr>
        <p:spPr>
          <a:xfrm>
            <a:off x="777240" y="5138928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9" name="Principle 1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0062" y="5311750"/>
            <a:ext cx="294437" cy="294437"/>
          </a:xfrm>
          <a:prstGeom prst="rect">
            <a:avLst/>
          </a:prstGeom>
        </p:spPr>
      </p:pic>
      <p:sp>
        <p:nvSpPr>
          <p:cNvPr id="30" name="Principle 1 text"/>
          <p:cNvSpPr txBox="1"/>
          <p:nvPr/>
        </p:nvSpPr>
        <p:spPr>
          <a:xfrm>
            <a:off x="1600200" y="502920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Any assistant: a small adapter plus MCP tools (SpaceDoc, CMO-DA, homegrown)</a:t>
            </a:r>
            <a:endParaRPr lang="en-US" sz="1400" dirty="0"/>
          </a:p>
        </p:txBody>
      </p:sp>
      <p:sp>
        <p:nvSpPr>
          <p:cNvPr id="31" name="Principle 2 card"/>
          <p:cNvSpPr/>
          <p:nvPr/>
        </p:nvSpPr>
        <p:spPr>
          <a:xfrm>
            <a:off x="4297680" y="4892040"/>
            <a:ext cx="356616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</p:sp>
      <p:sp>
        <p:nvSpPr>
          <p:cNvPr id="32" name="Principle 2 circle"/>
          <p:cNvSpPr/>
          <p:nvPr/>
        </p:nvSpPr>
        <p:spPr>
          <a:xfrm>
            <a:off x="4526280" y="5138928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33" name="Principle 2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99102" y="5311750"/>
            <a:ext cx="294437" cy="294437"/>
          </a:xfrm>
          <a:prstGeom prst="rect">
            <a:avLst/>
          </a:prstGeom>
        </p:spPr>
      </p:pic>
      <p:sp>
        <p:nvSpPr>
          <p:cNvPr id="34" name="Principle 2 text"/>
          <p:cNvSpPr txBox="1"/>
          <p:nvPr/>
        </p:nvSpPr>
        <p:spPr>
          <a:xfrm>
            <a:off x="5349240" y="502920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Runs locally on a laptop, overnight; no cloud calls</a:t>
            </a:r>
            <a:endParaRPr lang="en-US" sz="1400" dirty="0"/>
          </a:p>
        </p:txBody>
      </p:sp>
      <p:sp>
        <p:nvSpPr>
          <p:cNvPr id="35" name="Principle 3 card"/>
          <p:cNvSpPr/>
          <p:nvPr/>
        </p:nvSpPr>
        <p:spPr>
          <a:xfrm>
            <a:off x="8046720" y="4892040"/>
            <a:ext cx="356616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</p:sp>
      <p:sp>
        <p:nvSpPr>
          <p:cNvPr id="36" name="Principle 3 circle"/>
          <p:cNvSpPr/>
          <p:nvPr/>
        </p:nvSpPr>
        <p:spPr>
          <a:xfrm>
            <a:off x="8275320" y="5138928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37" name="Principle 3 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48142" y="5311750"/>
            <a:ext cx="294437" cy="294437"/>
          </a:xfrm>
          <a:prstGeom prst="rect">
            <a:avLst/>
          </a:prstGeom>
        </p:spPr>
      </p:pic>
      <p:sp>
        <p:nvSpPr>
          <p:cNvPr id="38" name="Principle 3 text"/>
          <p:cNvSpPr txBox="1"/>
          <p:nvPr/>
        </p:nvSpPr>
        <p:spPr>
          <a:xfrm>
            <a:off x="9098280" y="502920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score points at the evidence behind it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Every case is grounded in NASA's own data</a:t>
            </a:r>
            <a:endParaRPr lang="en-US" sz="3400" dirty="0"/>
          </a:p>
        </p:txBody>
      </p:sp>
      <p:sp>
        <p:nvSpPr>
          <p:cNvPr id="3" name="Stat 1 card"/>
          <p:cNvSpPr/>
          <p:nvPr/>
        </p:nvSpPr>
        <p:spPr>
          <a:xfrm>
            <a:off x="548640" y="1417320"/>
            <a:ext cx="251460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4" name="Stat 1 number"/>
          <p:cNvSpPr txBox="1"/>
          <p:nvPr/>
        </p:nvSpPr>
        <p:spPr>
          <a:xfrm>
            <a:off x="731520" y="15270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118</a:t>
            </a:r>
            <a:endParaRPr lang="en-US" sz="3600" dirty="0"/>
          </a:p>
        </p:txBody>
      </p:sp>
      <p:sp>
        <p:nvSpPr>
          <p:cNvPr id="5" name="Stat 1 label"/>
          <p:cNvSpPr txBox="1"/>
          <p:nvPr/>
        </p:nvSpPr>
        <p:spPr>
          <a:xfrm>
            <a:off x="731520" y="2130552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IMM conditions (2023 CLiFFs) with treated and untreated courses</a:t>
            </a:r>
            <a:endParaRPr lang="en-US" sz="1200" dirty="0"/>
          </a:p>
        </p:txBody>
      </p:sp>
      <p:sp>
        <p:nvSpPr>
          <p:cNvPr id="6" name="Stat 2 card"/>
          <p:cNvSpPr/>
          <p:nvPr/>
        </p:nvSpPr>
        <p:spPr>
          <a:xfrm>
            <a:off x="3246120" y="1417320"/>
            <a:ext cx="251460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7" name="Stat 2 number"/>
          <p:cNvSpPr txBox="1"/>
          <p:nvPr/>
        </p:nvSpPr>
        <p:spPr>
          <a:xfrm>
            <a:off x="3429000" y="15270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17</a:t>
            </a:r>
            <a:endParaRPr lang="en-US" sz="3600" dirty="0"/>
          </a:p>
        </p:txBody>
      </p:sp>
      <p:sp>
        <p:nvSpPr>
          <p:cNvPr id="8" name="Stat 2 label"/>
          <p:cNvSpPr txBox="1"/>
          <p:nvPr/>
        </p:nvSpPr>
        <p:spPr>
          <a:xfrm>
            <a:off x="3429000" y="2130552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Design Reference Missions</a:t>
            </a:r>
            <a:endParaRPr lang="en-US" sz="1200" dirty="0"/>
          </a:p>
        </p:txBody>
      </p:sp>
      <p:sp>
        <p:nvSpPr>
          <p:cNvPr id="9" name="Stat 3 card"/>
          <p:cNvSpPr/>
          <p:nvPr/>
        </p:nvSpPr>
        <p:spPr>
          <a:xfrm>
            <a:off x="548640" y="2971800"/>
            <a:ext cx="251460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0" name="Stat 3 number"/>
          <p:cNvSpPr txBox="1"/>
          <p:nvPr/>
        </p:nvSpPr>
        <p:spPr>
          <a:xfrm>
            <a:off x="731520" y="308152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</a:t>
            </a:r>
            <a:endParaRPr lang="en-US" sz="3600" dirty="0"/>
          </a:p>
        </p:txBody>
      </p:sp>
      <p:sp>
        <p:nvSpPr>
          <p:cNvPr id="11" name="Stat 3 label"/>
          <p:cNvSpPr txBox="1"/>
          <p:nvPr/>
        </p:nvSpPr>
        <p:spPr>
          <a:xfrm>
            <a:off x="731520" y="3685032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habitat medical kits and capability profiles</a:t>
            </a:r>
            <a:endParaRPr lang="en-US" sz="1200" dirty="0"/>
          </a:p>
        </p:txBody>
      </p:sp>
      <p:sp>
        <p:nvSpPr>
          <p:cNvPr id="12" name="Stat 4 card"/>
          <p:cNvSpPr/>
          <p:nvPr/>
        </p:nvSpPr>
        <p:spPr>
          <a:xfrm>
            <a:off x="3246120" y="2971800"/>
            <a:ext cx="251460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3" name="Stat 4 number"/>
          <p:cNvSpPr txBox="1"/>
          <p:nvPr/>
        </p:nvSpPr>
        <p:spPr>
          <a:xfrm>
            <a:off x="3429000" y="308152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20</a:t>
            </a:r>
            <a:endParaRPr lang="en-US" sz="3600" dirty="0"/>
          </a:p>
        </p:txBody>
      </p:sp>
      <p:sp>
        <p:nvSpPr>
          <p:cNvPr id="14" name="Stat 4 label"/>
          <p:cNvSpPr txBox="1"/>
          <p:nvPr/>
        </p:nvSpPr>
        <p:spPr>
          <a:xfrm>
            <a:off x="3429000" y="3685032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synthetic crewmembers modelled on the active corps</a:t>
            </a:r>
            <a:endParaRPr lang="en-US" sz="1200" dirty="0"/>
          </a:p>
        </p:txBody>
      </p:sp>
      <p:sp>
        <p:nvSpPr>
          <p:cNvPr id="15" name="Stat 5 card"/>
          <p:cNvSpPr/>
          <p:nvPr/>
        </p:nvSpPr>
        <p:spPr>
          <a:xfrm>
            <a:off x="548640" y="4526280"/>
            <a:ext cx="251460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6" name="Stat 5 number"/>
          <p:cNvSpPr txBox="1"/>
          <p:nvPr/>
        </p:nvSpPr>
        <p:spPr>
          <a:xfrm>
            <a:off x="731520" y="463600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678</a:t>
            </a:r>
            <a:endParaRPr lang="en-US" sz="3600" dirty="0"/>
          </a:p>
        </p:txBody>
      </p:sp>
      <p:sp>
        <p:nvSpPr>
          <p:cNvPr id="17" name="Stat 5 label"/>
          <p:cNvSpPr txBox="1"/>
          <p:nvPr/>
        </p:nvSpPr>
        <p:spPr>
          <a:xfrm>
            <a:off x="731520" y="5239512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ICD-10-CM symptom codes</a:t>
            </a:r>
            <a:endParaRPr lang="en-US" sz="1200" dirty="0"/>
          </a:p>
        </p:txBody>
      </p:sp>
      <p:sp>
        <p:nvSpPr>
          <p:cNvPr id="18" name="Stat 6 card"/>
          <p:cNvSpPr/>
          <p:nvPr/>
        </p:nvSpPr>
        <p:spPr>
          <a:xfrm>
            <a:off x="3246120" y="4526280"/>
            <a:ext cx="251460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9" name="Stat 6 number"/>
          <p:cNvSpPr txBox="1"/>
          <p:nvPr/>
        </p:nvSpPr>
        <p:spPr>
          <a:xfrm>
            <a:off x="3429000" y="463600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90</a:t>
            </a:r>
            <a:endParaRPr lang="en-US" sz="3600" dirty="0"/>
          </a:p>
        </p:txBody>
      </p:sp>
      <p:sp>
        <p:nvSpPr>
          <p:cNvPr id="20" name="Stat 6 label"/>
          <p:cNvSpPr txBox="1"/>
          <p:nvPr/>
        </p:nvSpPr>
        <p:spPr>
          <a:xfrm>
            <a:off x="3429000" y="5239512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reference entries: kit drugs (FDA labels) and terms</a:t>
            </a:r>
            <a:endParaRPr lang="en-US" sz="1200" dirty="0"/>
          </a:p>
        </p:txBody>
      </p:sp>
      <p:graphicFrame>
        <p:nvGraphicFramePr>
          <p:cNvPr id="21" name="Chart conditions by environment" descr=""/>
          <p:cNvGraphicFramePr/>
          <p:nvPr/>
        </p:nvGraphicFramePr>
        <p:xfrm>
          <a:off x="6172200" y="1325880"/>
          <a:ext cx="54406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Sources"/>
          <p:cNvSpPr txBox="1"/>
          <p:nvPr/>
        </p:nvSpPr>
        <p:spPr>
          <a:xfrm>
            <a:off x="6172200" y="589788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Sources: NASA Integrated Medical Model (CLiFFs, DRMs, kit lists); ICD-10-CM; FDA labeling via DailyMed.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Each case runs 8 times, in 3 mission settings</a:t>
            </a:r>
            <a:endParaRPr lang="en-US" sz="3400" dirty="0"/>
          </a:p>
        </p:txBody>
      </p:sp>
      <p:sp>
        <p:nvSpPr>
          <p:cNvPr id="3" name="Runs heading"/>
          <p:cNvSpPr txBox="1"/>
          <p:nvPr/>
        </p:nvSpPr>
        <p:spPr>
          <a:xfrm>
            <a:off x="548640" y="13716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Default batch per case</a:t>
            </a:r>
            <a:endParaRPr lang="en-US" sz="1700" dirty="0"/>
          </a:p>
        </p:txBody>
      </p:sp>
      <p:sp>
        <p:nvSpPr>
          <p:cNvPr id="4" name="Env 1"/>
          <p:cNvSpPr txBox="1"/>
          <p:nvPr/>
        </p:nvSpPr>
        <p:spPr>
          <a:xfrm>
            <a:off x="1783080" y="18288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Low Earth orbit</a:t>
            </a:r>
            <a:endParaRPr lang="en-US" sz="1300" dirty="0"/>
          </a:p>
        </p:txBody>
      </p:sp>
      <p:sp>
        <p:nvSpPr>
          <p:cNvPr id="5" name="Env 2"/>
          <p:cNvSpPr txBox="1"/>
          <p:nvPr/>
        </p:nvSpPr>
        <p:spPr>
          <a:xfrm>
            <a:off x="3154680" y="18288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Mars transit</a:t>
            </a:r>
            <a:endParaRPr lang="en-US" sz="1300" dirty="0"/>
          </a:p>
        </p:txBody>
      </p:sp>
      <p:sp>
        <p:nvSpPr>
          <p:cNvPr id="6" name="Env 3"/>
          <p:cNvSpPr txBox="1"/>
          <p:nvPr/>
        </p:nvSpPr>
        <p:spPr>
          <a:xfrm>
            <a:off x="4526280" y="18288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Mars surface</a:t>
            </a:r>
            <a:endParaRPr lang="en-US" sz="1300" dirty="0"/>
          </a:p>
        </p:txBody>
      </p:sp>
      <p:sp>
        <p:nvSpPr>
          <p:cNvPr id="7" name="Course 1"/>
          <p:cNvSpPr txBox="1"/>
          <p:nvPr/>
        </p:nvSpPr>
        <p:spPr>
          <a:xfrm>
            <a:off x="548640" y="237744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Best course</a:t>
            </a:r>
            <a:endParaRPr lang="en-US" sz="1400" dirty="0"/>
          </a:p>
        </p:txBody>
      </p:sp>
      <p:sp>
        <p:nvSpPr>
          <p:cNvPr id="8" name="Run 1"/>
          <p:cNvSpPr/>
          <p:nvPr/>
        </p:nvSpPr>
        <p:spPr>
          <a:xfrm>
            <a:off x="1783080" y="2377440"/>
            <a:ext cx="128016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Run 1</a:t>
            </a:r>
            <a:endParaRPr lang="en-US" sz="1500" dirty="0"/>
          </a:p>
        </p:txBody>
      </p:sp>
      <p:sp>
        <p:nvSpPr>
          <p:cNvPr id="9" name="Run 2"/>
          <p:cNvSpPr/>
          <p:nvPr/>
        </p:nvSpPr>
        <p:spPr>
          <a:xfrm>
            <a:off x="3154680" y="2377440"/>
            <a:ext cx="128016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Run 2</a:t>
            </a:r>
            <a:endParaRPr lang="en-US" sz="1500" dirty="0"/>
          </a:p>
        </p:txBody>
      </p:sp>
      <p:sp>
        <p:nvSpPr>
          <p:cNvPr id="10" name="Run 3"/>
          <p:cNvSpPr/>
          <p:nvPr/>
        </p:nvSpPr>
        <p:spPr>
          <a:xfrm>
            <a:off x="4526280" y="2377440"/>
            <a:ext cx="128016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Run 3</a:t>
            </a:r>
            <a:endParaRPr lang="en-US" sz="1500" dirty="0"/>
          </a:p>
        </p:txBody>
      </p:sp>
      <p:sp>
        <p:nvSpPr>
          <p:cNvPr id="11" name="Course 2"/>
          <p:cNvSpPr txBox="1"/>
          <p:nvPr/>
        </p:nvSpPr>
        <p:spPr>
          <a:xfrm>
            <a:off x="548640" y="329184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Worst course</a:t>
            </a:r>
            <a:endParaRPr lang="en-US" sz="1400" dirty="0"/>
          </a:p>
        </p:txBody>
      </p:sp>
      <p:sp>
        <p:nvSpPr>
          <p:cNvPr id="12" name="Run 4"/>
          <p:cNvSpPr/>
          <p:nvPr/>
        </p:nvSpPr>
        <p:spPr>
          <a:xfrm>
            <a:off x="1783080" y="3291840"/>
            <a:ext cx="128016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Run 4</a:t>
            </a:r>
            <a:endParaRPr lang="en-US" sz="1500" dirty="0"/>
          </a:p>
        </p:txBody>
      </p:sp>
      <p:sp>
        <p:nvSpPr>
          <p:cNvPr id="13" name="Run 5"/>
          <p:cNvSpPr/>
          <p:nvPr/>
        </p:nvSpPr>
        <p:spPr>
          <a:xfrm>
            <a:off x="3154680" y="3291840"/>
            <a:ext cx="128016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Run 5</a:t>
            </a:r>
            <a:endParaRPr lang="en-US" sz="1500" dirty="0"/>
          </a:p>
        </p:txBody>
      </p:sp>
      <p:sp>
        <p:nvSpPr>
          <p:cNvPr id="14" name="Run 6"/>
          <p:cNvSpPr/>
          <p:nvPr/>
        </p:nvSpPr>
        <p:spPr>
          <a:xfrm>
            <a:off x="4526280" y="3291840"/>
            <a:ext cx="128016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Run 6</a:t>
            </a:r>
            <a:endParaRPr lang="en-US" sz="1500" dirty="0"/>
          </a:p>
        </p:txBody>
      </p:sp>
      <p:sp>
        <p:nvSpPr>
          <p:cNvPr id="15" name="Course 3"/>
          <p:cNvSpPr txBox="1"/>
          <p:nvPr/>
        </p:nvSpPr>
        <p:spPr>
          <a:xfrm>
            <a:off x="548640" y="420624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CLiFF odds</a:t>
            </a:r>
            <a:endParaRPr lang="en-US" sz="1400" dirty="0"/>
          </a:p>
        </p:txBody>
      </p:sp>
      <p:sp>
        <p:nvSpPr>
          <p:cNvPr id="16" name="Run 7"/>
          <p:cNvSpPr/>
          <p:nvPr/>
        </p:nvSpPr>
        <p:spPr>
          <a:xfrm>
            <a:off x="1783080" y="4206240"/>
            <a:ext cx="1965960" cy="777240"/>
          </a:xfrm>
          <a:prstGeom prst="roundRect">
            <a:avLst>
              <a:gd name="adj" fmla="val 9412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Run 7</a:t>
            </a:r>
            <a:endParaRPr lang="en-US" sz="1500" dirty="0"/>
          </a:p>
        </p:txBody>
      </p:sp>
      <p:sp>
        <p:nvSpPr>
          <p:cNvPr id="17" name="Run 8"/>
          <p:cNvSpPr/>
          <p:nvPr/>
        </p:nvSpPr>
        <p:spPr>
          <a:xfrm>
            <a:off x="3840480" y="4206240"/>
            <a:ext cx="1965960" cy="777240"/>
          </a:xfrm>
          <a:prstGeom prst="roundRect">
            <a:avLst>
              <a:gd name="adj" fmla="val 9412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Run 8</a:t>
            </a:r>
            <a:endParaRPr lang="en-US" sz="1500" dirty="0"/>
          </a:p>
        </p:txBody>
      </p:sp>
      <p:sp>
        <p:nvSpPr>
          <p:cNvPr id="18" name="Clock circle"/>
          <p:cNvSpPr/>
          <p:nvPr/>
        </p:nvSpPr>
        <p:spPr>
          <a:xfrm>
            <a:off x="548640" y="534924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9" name="Clock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462" y="5522062"/>
            <a:ext cx="294437" cy="294437"/>
          </a:xfrm>
          <a:prstGeom prst="rect">
            <a:avLst/>
          </a:prstGeom>
        </p:spPr>
      </p:pic>
      <p:sp>
        <p:nvSpPr>
          <p:cNvPr id="20" name="Clock note"/>
          <p:cNvSpPr txBox="1"/>
          <p:nvPr/>
        </p:nvSpPr>
        <p:spPr>
          <a:xfrm>
            <a:off x="1371600" y="5257800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clock jumps ahead when nothing is happening, so a 10-day antibiotic course runs in seconds. Every run has a seed and can be replayed exactly.</a:t>
            </a:r>
            <a:endParaRPr lang="en-US" sz="1400" dirty="0"/>
          </a:p>
        </p:txBody>
      </p:sp>
      <p:graphicFrame>
        <p:nvGraphicFramePr>
          <p:cNvPr id="21" name="Chart kit by vehicle" descr=""/>
          <p:cNvGraphicFramePr/>
          <p:nvPr/>
        </p:nvGraphicFramePr>
        <p:xfrm>
          <a:off x="6309360" y="1325880"/>
          <a:ext cx="53035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Kit note"/>
          <p:cNvSpPr txBox="1"/>
          <p:nvPr/>
        </p:nvSpPr>
        <p:spPr>
          <a:xfrm>
            <a:off x="6309360" y="5394960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checklist item that needs ultrasound is scored not applicable where none is aboard, rather than failed.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Four layers of scoring, reported side by side</a:t>
            </a:r>
            <a:endParaRPr lang="en-US" sz="3400" dirty="0"/>
          </a:p>
        </p:txBody>
      </p:sp>
      <p:sp>
        <p:nvSpPr>
          <p:cNvPr id="3" name="Layer A card"/>
          <p:cNvSpPr/>
          <p:nvPr/>
        </p:nvSpPr>
        <p:spPr>
          <a:xfrm>
            <a:off x="548640" y="1417320"/>
            <a:ext cx="26517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4" name="Layer A badge"/>
          <p:cNvSpPr/>
          <p:nvPr/>
        </p:nvSpPr>
        <p:spPr>
          <a:xfrm>
            <a:off x="77724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</a:t>
            </a:r>
            <a:endParaRPr lang="en-US" sz="1800" dirty="0"/>
          </a:p>
        </p:txBody>
      </p:sp>
      <p:sp>
        <p:nvSpPr>
          <p:cNvPr id="5" name="Layer A title"/>
          <p:cNvSpPr txBox="1"/>
          <p:nvPr/>
        </p:nvSpPr>
        <p:spPr>
          <a:xfrm>
            <a:off x="1463040" y="169164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Critical errors</a:t>
            </a:r>
            <a:endParaRPr lang="en-US" sz="1700" dirty="0"/>
          </a:p>
        </p:txBody>
      </p:sp>
      <p:sp>
        <p:nvSpPr>
          <p:cNvPr id="6" name="Layer A text"/>
          <p:cNvSpPr txBox="1"/>
          <p:nvPr/>
        </p:nvSpPr>
        <p:spPr>
          <a:xfrm>
            <a:off x="777240" y="2377440"/>
            <a:ext cx="2240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Six universal never events, e.g. a drug the patient is allergic to. Any one fails the run.</a:t>
            </a:r>
            <a:endParaRPr lang="en-US" sz="1500" dirty="0"/>
          </a:p>
        </p:txBody>
      </p:sp>
      <p:sp>
        <p:nvSpPr>
          <p:cNvPr id="7" name="Layer B card"/>
          <p:cNvSpPr/>
          <p:nvPr/>
        </p:nvSpPr>
        <p:spPr>
          <a:xfrm>
            <a:off x="3337560" y="1417320"/>
            <a:ext cx="26517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8" name="Layer B badge"/>
          <p:cNvSpPr/>
          <p:nvPr/>
        </p:nvSpPr>
        <p:spPr>
          <a:xfrm>
            <a:off x="3566160" y="164592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Layer B title"/>
          <p:cNvSpPr txBox="1"/>
          <p:nvPr/>
        </p:nvSpPr>
        <p:spPr>
          <a:xfrm>
            <a:off x="4251960" y="169164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Case checklist</a:t>
            </a:r>
            <a:endParaRPr lang="en-US" sz="1700" dirty="0"/>
          </a:p>
        </p:txBody>
      </p:sp>
      <p:sp>
        <p:nvSpPr>
          <p:cNvPr id="10" name="Layer B text"/>
          <p:cNvSpPr txBox="1"/>
          <p:nvPr/>
        </p:nvSpPr>
        <p:spPr>
          <a:xfrm>
            <a:off x="3566160" y="2377440"/>
            <a:ext cx="2240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Observable actions written by clerks, weighted +1 to +10 or −1 to −10.</a:t>
            </a:r>
            <a:endParaRPr lang="en-US" sz="1500" dirty="0"/>
          </a:p>
        </p:txBody>
      </p:sp>
      <p:sp>
        <p:nvSpPr>
          <p:cNvPr id="11" name="Layer C card"/>
          <p:cNvSpPr/>
          <p:nvPr/>
        </p:nvSpPr>
        <p:spPr>
          <a:xfrm>
            <a:off x="548640" y="3749040"/>
            <a:ext cx="26517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12" name="Layer C badge"/>
          <p:cNvSpPr/>
          <p:nvPr/>
        </p:nvSpPr>
        <p:spPr>
          <a:xfrm>
            <a:off x="777240" y="39776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</a:t>
            </a:r>
            <a:endParaRPr lang="en-US" sz="1800" dirty="0"/>
          </a:p>
        </p:txBody>
      </p:sp>
      <p:sp>
        <p:nvSpPr>
          <p:cNvPr id="13" name="Layer C title"/>
          <p:cNvSpPr txBox="1"/>
          <p:nvPr/>
        </p:nvSpPr>
        <p:spPr>
          <a:xfrm>
            <a:off x="1463040" y="402336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Global ratings</a:t>
            </a:r>
            <a:endParaRPr lang="en-US" sz="1700" dirty="0"/>
          </a:p>
        </p:txBody>
      </p:sp>
      <p:sp>
        <p:nvSpPr>
          <p:cNvPr id="14" name="Layer C text"/>
          <p:cNvSpPr txBox="1"/>
          <p:nvPr/>
        </p:nvSpPr>
        <p:spPr>
          <a:xfrm>
            <a:off x="777240" y="4709160"/>
            <a:ext cx="2240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Six domains rated 1–5 against written anchors.</a:t>
            </a:r>
            <a:endParaRPr lang="en-US" sz="1500" dirty="0"/>
          </a:p>
        </p:txBody>
      </p:sp>
      <p:sp>
        <p:nvSpPr>
          <p:cNvPr id="15" name="Layer D card"/>
          <p:cNvSpPr/>
          <p:nvPr/>
        </p:nvSpPr>
        <p:spPr>
          <a:xfrm>
            <a:off x="3337560" y="3749040"/>
            <a:ext cx="26517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16" name="Layer D badge"/>
          <p:cNvSpPr/>
          <p:nvPr/>
        </p:nvSpPr>
        <p:spPr>
          <a:xfrm>
            <a:off x="3566160" y="39776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Layer D title"/>
          <p:cNvSpPr txBox="1"/>
          <p:nvPr/>
        </p:nvSpPr>
        <p:spPr>
          <a:xfrm>
            <a:off x="4251960" y="402336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Outcome</a:t>
            </a:r>
            <a:endParaRPr lang="en-US" sz="1700" dirty="0"/>
          </a:p>
        </p:txBody>
      </p:sp>
      <p:sp>
        <p:nvSpPr>
          <p:cNvPr id="18" name="Layer D text"/>
          <p:cNvSpPr txBox="1"/>
          <p:nvPr/>
        </p:nvSpPr>
        <p:spPr>
          <a:xfrm>
            <a:off x="3566160" y="4709160"/>
            <a:ext cx="2240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From the twin: course reached, time to diagnosis and treatment, resources used.</a:t>
            </a:r>
            <a:endParaRPr lang="en-US" sz="1500" dirty="0"/>
          </a:p>
        </p:txBody>
      </p:sp>
      <p:graphicFrame>
        <p:nvGraphicFramePr>
          <p:cNvPr id="19" name="Chart weight by domain" descr=""/>
          <p:cNvGraphicFramePr/>
          <p:nvPr/>
        </p:nvGraphicFramePr>
        <p:xfrm>
          <a:off x="6309360" y="1325880"/>
          <a:ext cx="53035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Scoring note"/>
          <p:cNvSpPr txBox="1"/>
          <p:nvPr/>
        </p:nvSpPr>
        <p:spPr>
          <a:xfrm>
            <a:off x="6309360" y="5394960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scorer checks one item at a time and cites the transcript turn. A judge reads all 8 runs and flags outliers instead of averaging them away.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Worked example: appendicitis, 8 hours to act</a:t>
            </a:r>
            <a:endParaRPr lang="en-US" sz="3400" dirty="0"/>
          </a:p>
        </p:txBody>
      </p:sp>
      <p:sp>
        <p:nvSpPr>
          <p:cNvPr id="3" name="Case card"/>
          <p:cNvSpPr/>
          <p:nvPr/>
        </p:nvSpPr>
        <p:spPr>
          <a:xfrm>
            <a:off x="548640" y="1371600"/>
            <a:ext cx="53949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4" name="Patient circle"/>
          <p:cNvSpPr/>
          <p:nvPr/>
        </p:nvSpPr>
        <p:spPr>
          <a:xfrm>
            <a:off x="777240" y="1572768"/>
            <a:ext cx="822960" cy="8229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Patient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439" y="1794967"/>
            <a:ext cx="378562" cy="378562"/>
          </a:xfrm>
          <a:prstGeom prst="rect">
            <a:avLst/>
          </a:prstGeom>
        </p:spPr>
      </p:pic>
      <p:sp>
        <p:nvSpPr>
          <p:cNvPr id="6" name="Case summary"/>
          <p:cNvSpPr txBox="1"/>
          <p:nvPr/>
        </p:nvSpPr>
        <p:spPr>
          <a:xfrm>
            <a:off x="1783080" y="1536192"/>
            <a:ext cx="3977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Kenji Arakawa, 45 (synthetic crewmember)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Presented by a non-physician CMO who omits details unless asked. Penicillin allergy.</a:t>
            </a:r>
            <a:endParaRPr lang="en-US" sz="1400" dirty="0"/>
          </a:p>
        </p:txBody>
      </p:sp>
      <p:sp>
        <p:nvSpPr>
          <p:cNvPr id="7" name="Timeline axis"/>
          <p:cNvSpPr/>
          <p:nvPr/>
        </p:nvSpPr>
        <p:spPr>
          <a:xfrm>
            <a:off x="1417320" y="3017520"/>
            <a:ext cx="0" cy="297180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8" name="Event 1 dot"/>
          <p:cNvSpPr/>
          <p:nvPr/>
        </p:nvSpPr>
        <p:spPr>
          <a:xfrm>
            <a:off x="1307592" y="2999232"/>
            <a:ext cx="219456" cy="219456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9" name="Event 1 time"/>
          <p:cNvSpPr txBox="1"/>
          <p:nvPr/>
        </p:nvSpPr>
        <p:spPr>
          <a:xfrm>
            <a:off x="548640" y="288036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T+0</a:t>
            </a:r>
            <a:endParaRPr lang="en-US" sz="1400" dirty="0"/>
          </a:p>
        </p:txBody>
      </p:sp>
      <p:sp>
        <p:nvSpPr>
          <p:cNvPr id="10" name="Event 1 text"/>
          <p:cNvSpPr txBox="1"/>
          <p:nvPr/>
        </p:nvSpPr>
        <p:spPr>
          <a:xfrm>
            <a:off x="1737360" y="28803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Periumbilical pain and anorexia; patient blames food</a:t>
            </a:r>
            <a:endParaRPr lang="en-US" sz="1400" dirty="0"/>
          </a:p>
        </p:txBody>
      </p:sp>
      <p:sp>
        <p:nvSpPr>
          <p:cNvPr id="11" name="Event 2 dot"/>
          <p:cNvSpPr/>
          <p:nvPr/>
        </p:nvSpPr>
        <p:spPr>
          <a:xfrm>
            <a:off x="1307592" y="3666744"/>
            <a:ext cx="219456" cy="219456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2" name="Event 2 time"/>
          <p:cNvSpPr txBox="1"/>
          <p:nvPr/>
        </p:nvSpPr>
        <p:spPr>
          <a:xfrm>
            <a:off x="548640" y="3547872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T+4h</a:t>
            </a:r>
            <a:endParaRPr lang="en-US" sz="1400" dirty="0"/>
          </a:p>
        </p:txBody>
      </p:sp>
      <p:sp>
        <p:nvSpPr>
          <p:cNvPr id="13" name="Event 2 text"/>
          <p:cNvSpPr txBox="1"/>
          <p:nvPr/>
        </p:nvSpPr>
        <p:spPr>
          <a:xfrm>
            <a:off x="1737360" y="35478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Solar particle event: storm shelter, text-only link to ground</a:t>
            </a:r>
            <a:endParaRPr lang="en-US" sz="1400" dirty="0"/>
          </a:p>
        </p:txBody>
      </p:sp>
      <p:sp>
        <p:nvSpPr>
          <p:cNvPr id="14" name="Event 3 dot"/>
          <p:cNvSpPr/>
          <p:nvPr/>
        </p:nvSpPr>
        <p:spPr>
          <a:xfrm>
            <a:off x="1307592" y="4334256"/>
            <a:ext cx="219456" cy="219456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5" name="Event 3 time"/>
          <p:cNvSpPr txBox="1"/>
          <p:nvPr/>
        </p:nvSpPr>
        <p:spPr>
          <a:xfrm>
            <a:off x="548640" y="4215384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T+6h</a:t>
            </a:r>
            <a:endParaRPr lang="en-US" sz="1400" dirty="0"/>
          </a:p>
        </p:txBody>
      </p:sp>
      <p:sp>
        <p:nvSpPr>
          <p:cNvPr id="16" name="Event 3 text"/>
          <p:cNvSpPr txBox="1"/>
          <p:nvPr/>
        </p:nvSpPr>
        <p:spPr>
          <a:xfrm>
            <a:off x="1737360" y="421538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Pain migrates to the right lower quadrant</a:t>
            </a:r>
            <a:endParaRPr lang="en-US" sz="1400" dirty="0"/>
          </a:p>
        </p:txBody>
      </p:sp>
      <p:sp>
        <p:nvSpPr>
          <p:cNvPr id="17" name="Event 4 dot"/>
          <p:cNvSpPr/>
          <p:nvPr/>
        </p:nvSpPr>
        <p:spPr>
          <a:xfrm>
            <a:off x="1307592" y="5001768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Event 4 time"/>
          <p:cNvSpPr txBox="1"/>
          <p:nvPr/>
        </p:nvSpPr>
        <p:spPr>
          <a:xfrm>
            <a:off x="548640" y="488289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T+8h</a:t>
            </a:r>
            <a:endParaRPr lang="en-US" sz="1400" dirty="0"/>
          </a:p>
        </p:txBody>
      </p:sp>
      <p:sp>
        <p:nvSpPr>
          <p:cNvPr id="19" name="Event 4 text"/>
          <p:cNvSpPr txBox="1"/>
          <p:nvPr/>
        </p:nvSpPr>
        <p:spPr>
          <a:xfrm>
            <a:off x="1737360" y="488289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Deadline: antibiotics with enteric coverage</a:t>
            </a:r>
            <a:endParaRPr lang="en-US" sz="1400" dirty="0"/>
          </a:p>
        </p:txBody>
      </p:sp>
      <p:sp>
        <p:nvSpPr>
          <p:cNvPr id="20" name="Event 5 dot"/>
          <p:cNvSpPr/>
          <p:nvPr/>
        </p:nvSpPr>
        <p:spPr>
          <a:xfrm>
            <a:off x="1307592" y="5669280"/>
            <a:ext cx="219456" cy="219456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1" name="Event 5 time"/>
          <p:cNvSpPr txBox="1"/>
          <p:nvPr/>
        </p:nvSpPr>
        <p:spPr>
          <a:xfrm>
            <a:off x="548640" y="555040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T+36h</a:t>
            </a:r>
            <a:endParaRPr lang="en-US" sz="1400" dirty="0"/>
          </a:p>
        </p:txBody>
      </p:sp>
      <p:sp>
        <p:nvSpPr>
          <p:cNvPr id="22" name="Event 5 text"/>
          <p:cNvSpPr txBox="1"/>
          <p:nvPr/>
        </p:nvSpPr>
        <p:spPr>
          <a:xfrm>
            <a:off x="1737360" y="55504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If untreated: fever, tachycardia, peritonitis</a:t>
            </a:r>
            <a:endParaRPr lang="en-US" sz="1400" dirty="0"/>
          </a:p>
        </p:txBody>
      </p:sp>
      <p:graphicFrame>
        <p:nvGraphicFramePr>
          <p:cNvPr id="23" name="Chart LOCL" descr=""/>
          <p:cNvGraphicFramePr/>
          <p:nvPr/>
        </p:nvGraphicFramePr>
        <p:xfrm>
          <a:off x="6309360" y="1325880"/>
          <a:ext cx="53035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Example note"/>
          <p:cNvSpPr txBox="1"/>
          <p:nvPr/>
        </p:nvSpPr>
        <p:spPr>
          <a:xfrm>
            <a:off x="6309360" y="5394960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case is scored on 17 checklist items plus diagnosis and etiology, in all 8 runs. Values from the appendicitis CLiFF; pending physiologist review.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Phase A is built; the simulator is next</a:t>
            </a:r>
            <a:endParaRPr lang="en-US" sz="3400" dirty="0"/>
          </a:p>
        </p:txBody>
      </p:sp>
      <p:sp>
        <p:nvSpPr>
          <p:cNvPr id="3" name="Phase A"/>
          <p:cNvSpPr/>
          <p:nvPr/>
        </p:nvSpPr>
        <p:spPr>
          <a:xfrm>
            <a:off x="548640" y="1463040"/>
            <a:ext cx="1938528" cy="777240"/>
          </a:xfrm>
          <a:prstGeom prst="homePlat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</a:t>
            </a:r>
            <a:endParaRPr lang="en-US" sz="1800" dirty="0"/>
          </a:p>
        </p:txBody>
      </p:sp>
      <p:sp>
        <p:nvSpPr>
          <p:cNvPr id="4" name="Phase A title"/>
          <p:cNvSpPr txBox="1"/>
          <p:nvPr/>
        </p:nvSpPr>
        <p:spPr>
          <a:xfrm>
            <a:off x="685800" y="24231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Authoring</a:t>
            </a:r>
            <a:endParaRPr lang="en-US" sz="1600" dirty="0"/>
          </a:p>
        </p:txBody>
      </p:sp>
      <p:sp>
        <p:nvSpPr>
          <p:cNvPr id="5" name="Phase A text"/>
          <p:cNvSpPr txBox="1"/>
          <p:nvPr/>
        </p:nvSpPr>
        <p:spPr>
          <a:xfrm>
            <a:off x="685800" y="283464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Formats, NASA library, Scenario Builder, clerk guide</a:t>
            </a:r>
            <a:endParaRPr lang="en-US" sz="1400" dirty="0"/>
          </a:p>
        </p:txBody>
      </p:sp>
      <p:sp>
        <p:nvSpPr>
          <p:cNvPr id="6" name="Phase A5–7"/>
          <p:cNvSpPr/>
          <p:nvPr/>
        </p:nvSpPr>
        <p:spPr>
          <a:xfrm>
            <a:off x="2395728" y="1463040"/>
            <a:ext cx="1938528" cy="777240"/>
          </a:xfrm>
          <a:prstGeom prst="chevron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A5–7</a:t>
            </a:r>
            <a:endParaRPr lang="en-US" sz="1800" dirty="0"/>
          </a:p>
        </p:txBody>
      </p:sp>
      <p:sp>
        <p:nvSpPr>
          <p:cNvPr id="7" name="Phase A5–7 title"/>
          <p:cNvSpPr txBox="1"/>
          <p:nvPr/>
        </p:nvSpPr>
        <p:spPr>
          <a:xfrm>
            <a:off x="2532888" y="24231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Clerk round 2</a:t>
            </a:r>
            <a:endParaRPr lang="en-US" sz="1600" dirty="0"/>
          </a:p>
        </p:txBody>
      </p:sp>
      <p:sp>
        <p:nvSpPr>
          <p:cNvPr id="8" name="Phase A5–7 text"/>
          <p:cNvSpPr txBox="1"/>
          <p:nvPr/>
        </p:nvSpPr>
        <p:spPr>
          <a:xfrm>
            <a:off x="2532888" y="283464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Triage cases, manual scoring sheet</a:t>
            </a:r>
            <a:endParaRPr lang="en-US" sz="1400" dirty="0"/>
          </a:p>
        </p:txBody>
      </p:sp>
      <p:sp>
        <p:nvSpPr>
          <p:cNvPr id="9" name="Phase B"/>
          <p:cNvSpPr/>
          <p:nvPr/>
        </p:nvSpPr>
        <p:spPr>
          <a:xfrm>
            <a:off x="4242816" y="1463040"/>
            <a:ext cx="1938528" cy="777240"/>
          </a:xfrm>
          <a:prstGeom prst="chevron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endParaRPr lang="en-US" sz="1800" dirty="0"/>
          </a:p>
        </p:txBody>
      </p:sp>
      <p:sp>
        <p:nvSpPr>
          <p:cNvPr id="10" name="Phase B title"/>
          <p:cNvSpPr txBox="1"/>
          <p:nvPr/>
        </p:nvSpPr>
        <p:spPr>
          <a:xfrm>
            <a:off x="4379976" y="24231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Runner</a:t>
            </a:r>
            <a:endParaRPr lang="en-US" sz="1600" dirty="0"/>
          </a:p>
        </p:txBody>
      </p:sp>
      <p:sp>
        <p:nvSpPr>
          <p:cNvPr id="11" name="Phase B text"/>
          <p:cNvSpPr txBox="1"/>
          <p:nvPr/>
        </p:nvSpPr>
        <p:spPr>
          <a:xfrm>
            <a:off x="4379976" y="283464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Any assistant, end to end, on the laptop</a:t>
            </a:r>
            <a:endParaRPr lang="en-US" sz="1400" dirty="0"/>
          </a:p>
        </p:txBody>
      </p:sp>
      <p:sp>
        <p:nvSpPr>
          <p:cNvPr id="12" name="Phase C"/>
          <p:cNvSpPr/>
          <p:nvPr/>
        </p:nvSpPr>
        <p:spPr>
          <a:xfrm>
            <a:off x="6089904" y="1463040"/>
            <a:ext cx="1938528" cy="777240"/>
          </a:xfrm>
          <a:prstGeom prst="chevron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</a:t>
            </a:r>
            <a:endParaRPr lang="en-US" sz="1800" dirty="0"/>
          </a:p>
        </p:txBody>
      </p:sp>
      <p:sp>
        <p:nvSpPr>
          <p:cNvPr id="13" name="Phase C title"/>
          <p:cNvSpPr txBox="1"/>
          <p:nvPr/>
        </p:nvSpPr>
        <p:spPr>
          <a:xfrm>
            <a:off x="6227064" y="24231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Scoring</a:t>
            </a:r>
            <a:endParaRPr lang="en-US" sz="1600" dirty="0"/>
          </a:p>
        </p:txBody>
      </p:sp>
      <p:sp>
        <p:nvSpPr>
          <p:cNvPr id="14" name="Phase C text"/>
          <p:cNvSpPr txBox="1"/>
          <p:nvPr/>
        </p:nvSpPr>
        <p:spPr>
          <a:xfrm>
            <a:off x="6227064" y="283464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Scorer, judge and a viewer for each anomaly</a:t>
            </a:r>
            <a:endParaRPr lang="en-US" sz="1400" dirty="0"/>
          </a:p>
        </p:txBody>
      </p:sp>
      <p:sp>
        <p:nvSpPr>
          <p:cNvPr id="15" name="Phase D"/>
          <p:cNvSpPr/>
          <p:nvPr/>
        </p:nvSpPr>
        <p:spPr>
          <a:xfrm>
            <a:off x="7936992" y="1463040"/>
            <a:ext cx="1938528" cy="777240"/>
          </a:xfrm>
          <a:prstGeom prst="chevron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1800" dirty="0"/>
          </a:p>
        </p:txBody>
      </p:sp>
      <p:sp>
        <p:nvSpPr>
          <p:cNvPr id="16" name="Phase D title"/>
          <p:cNvSpPr txBox="1"/>
          <p:nvPr/>
        </p:nvSpPr>
        <p:spPr>
          <a:xfrm>
            <a:off x="8074152" y="24231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Digital twin</a:t>
            </a:r>
            <a:endParaRPr lang="en-US" sz="1600" dirty="0"/>
          </a:p>
        </p:txBody>
      </p:sp>
      <p:sp>
        <p:nvSpPr>
          <p:cNvPr id="17" name="Phase D text"/>
          <p:cNvSpPr txBox="1"/>
          <p:nvPr/>
        </p:nvSpPr>
        <p:spPr>
          <a:xfrm>
            <a:off x="8074152" y="283464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CLiFF courses, drug effects, mission events</a:t>
            </a:r>
            <a:endParaRPr lang="en-US" sz="1400" dirty="0"/>
          </a:p>
        </p:txBody>
      </p:sp>
      <p:sp>
        <p:nvSpPr>
          <p:cNvPr id="18" name="Phase E"/>
          <p:cNvSpPr/>
          <p:nvPr/>
        </p:nvSpPr>
        <p:spPr>
          <a:xfrm>
            <a:off x="9784080" y="1463040"/>
            <a:ext cx="1938528" cy="777240"/>
          </a:xfrm>
          <a:prstGeom prst="chevron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endParaRPr lang="en-US" sz="1800" dirty="0"/>
          </a:p>
        </p:txBody>
      </p:sp>
      <p:sp>
        <p:nvSpPr>
          <p:cNvPr id="19" name="Phase E title"/>
          <p:cNvSpPr txBox="1"/>
          <p:nvPr/>
        </p:nvSpPr>
        <p:spPr>
          <a:xfrm>
            <a:off x="9921240" y="24231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Reports</a:t>
            </a:r>
            <a:endParaRPr lang="en-US" sz="1600" dirty="0"/>
          </a:p>
        </p:txBody>
      </p:sp>
      <p:sp>
        <p:nvSpPr>
          <p:cNvPr id="20" name="Phase E text"/>
          <p:cNvSpPr txBox="1"/>
          <p:nvPr/>
        </p:nvSpPr>
        <p:spPr>
          <a:xfrm>
            <a:off x="9921240" y="283464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Medical and technical; scorer checked against clerks</a:t>
            </a:r>
            <a:endParaRPr lang="en-US" sz="1400" dirty="0"/>
          </a:p>
        </p:txBody>
      </p:sp>
      <p:sp>
        <p:nvSpPr>
          <p:cNvPr id="21" name="Done marker circle"/>
          <p:cNvSpPr/>
          <p:nvPr/>
        </p:nvSpPr>
        <p:spPr>
          <a:xfrm>
            <a:off x="685800" y="393192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2" name="Done marker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9493" y="4035613"/>
            <a:ext cx="176662" cy="176662"/>
          </a:xfrm>
          <a:prstGeom prst="rect">
            <a:avLst/>
          </a:prstGeom>
        </p:spPr>
      </p:pic>
      <p:sp>
        <p:nvSpPr>
          <p:cNvPr id="23" name="Done label"/>
          <p:cNvSpPr txBox="1"/>
          <p:nvPr/>
        </p:nvSpPr>
        <p:spPr>
          <a:xfrm>
            <a:off x="1188720" y="39319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Built and tested</a:t>
            </a:r>
            <a:endParaRPr lang="en-US" sz="1400" dirty="0"/>
          </a:p>
        </p:txBody>
      </p:sp>
      <p:sp>
        <p:nvSpPr>
          <p:cNvPr id="24" name="Asks heading"/>
          <p:cNvSpPr txBox="1"/>
          <p:nvPr/>
        </p:nvSpPr>
        <p:spPr>
          <a:xfrm>
            <a:off x="548640" y="45720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Needed to move forward</a:t>
            </a:r>
            <a:endParaRPr lang="en-US" sz="1800" dirty="0"/>
          </a:p>
        </p:txBody>
      </p:sp>
      <p:sp>
        <p:nvSpPr>
          <p:cNvPr id="25" name="Ask 1 circle"/>
          <p:cNvSpPr/>
          <p:nvPr/>
        </p:nvSpPr>
        <p:spPr>
          <a:xfrm>
            <a:off x="548640" y="51206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Ask 1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806" y="5305806"/>
            <a:ext cx="315468" cy="315468"/>
          </a:xfrm>
          <a:prstGeom prst="rect">
            <a:avLst/>
          </a:prstGeom>
        </p:spPr>
      </p:pic>
      <p:sp>
        <p:nvSpPr>
          <p:cNvPr id="27" name="Ask 1 title"/>
          <p:cNvSpPr txBox="1"/>
          <p:nvPr/>
        </p:nvSpPr>
        <p:spPr>
          <a:xfrm>
            <a:off x="1417320" y="5074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Clinical lead</a:t>
            </a:r>
            <a:endParaRPr lang="en-US" sz="1600" dirty="0"/>
          </a:p>
        </p:txBody>
      </p:sp>
      <p:sp>
        <p:nvSpPr>
          <p:cNvPr id="28" name="Ask 1 text"/>
          <p:cNvSpPr txBox="1"/>
          <p:nvPr/>
        </p:nvSpPr>
        <p:spPr>
          <a:xfrm>
            <a:off x="1417320" y="54406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Review rubric gates, anchors and dose tolerance</a:t>
            </a:r>
            <a:endParaRPr lang="en-US" sz="1400" dirty="0"/>
          </a:p>
        </p:txBody>
      </p:sp>
      <p:sp>
        <p:nvSpPr>
          <p:cNvPr id="29" name="Ask 2 circle"/>
          <p:cNvSpPr/>
          <p:nvPr/>
        </p:nvSpPr>
        <p:spPr>
          <a:xfrm>
            <a:off x="4297680" y="51206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Ask 2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2846" y="5305806"/>
            <a:ext cx="315468" cy="315468"/>
          </a:xfrm>
          <a:prstGeom prst="rect">
            <a:avLst/>
          </a:prstGeom>
        </p:spPr>
      </p:pic>
      <p:sp>
        <p:nvSpPr>
          <p:cNvPr id="31" name="Ask 2 title"/>
          <p:cNvSpPr txBox="1"/>
          <p:nvPr/>
        </p:nvSpPr>
        <p:spPr>
          <a:xfrm>
            <a:off x="5166360" y="5074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Physiologist</a:t>
            </a:r>
            <a:endParaRPr lang="en-US" sz="1600" dirty="0"/>
          </a:p>
        </p:txBody>
      </p:sp>
      <p:sp>
        <p:nvSpPr>
          <p:cNvPr id="32" name="Ask 2 text"/>
          <p:cNvSpPr txBox="1"/>
          <p:nvPr/>
        </p:nvSpPr>
        <p:spPr>
          <a:xfrm>
            <a:off x="5166360" y="54406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Check CLiFF course numbers and crew baselines</a:t>
            </a:r>
            <a:endParaRPr lang="en-US" sz="1400" dirty="0"/>
          </a:p>
        </p:txBody>
      </p:sp>
      <p:sp>
        <p:nvSpPr>
          <p:cNvPr id="33" name="Ask 3 circle"/>
          <p:cNvSpPr/>
          <p:nvPr/>
        </p:nvSpPr>
        <p:spPr>
          <a:xfrm>
            <a:off x="8046720" y="51206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4" name="Ask 3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1886" y="5305806"/>
            <a:ext cx="315468" cy="315468"/>
          </a:xfrm>
          <a:prstGeom prst="rect">
            <a:avLst/>
          </a:prstGeom>
        </p:spPr>
      </p:pic>
      <p:sp>
        <p:nvSpPr>
          <p:cNvPr id="35" name="Ask 3 title"/>
          <p:cNvSpPr txBox="1"/>
          <p:nvPr/>
        </p:nvSpPr>
        <p:spPr>
          <a:xfrm>
            <a:off x="8915400" y="5074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CMO-DA team</a:t>
            </a:r>
            <a:endParaRPr lang="en-US" sz="1600" dirty="0"/>
          </a:p>
        </p:txBody>
      </p:sp>
      <p:sp>
        <p:nvSpPr>
          <p:cNvPr id="36" name="Ask 3 text"/>
          <p:cNvSpPr txBox="1"/>
          <p:nvPr/>
        </p:nvSpPr>
        <p:spPr>
          <a:xfrm>
            <a:off x="8915400" y="54406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Share the interface spec before the runner is built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dSim Charcoal">
  <a:themeElements>
    <a:clrScheme name="MedSim Charcoal">
      <a:dk1>
        <a:srgbClr val="1F2328"/>
      </a:dk1>
      <a:lt1>
        <a:srgbClr val="FFFFFF"/>
      </a:lt1>
      <a:dk2>
        <a:srgbClr val="2E3A42"/>
      </a:dk2>
      <a:lt2>
        <a:srgbClr val="EDF0F2"/>
      </a:lt2>
      <a:accent1>
        <a:srgbClr val="E07B39"/>
      </a:accent1>
      <a:accent2>
        <a:srgbClr val="8796A3"/>
      </a:accent2>
      <a:accent3>
        <a:srgbClr val="56636D"/>
      </a:accent3>
      <a:accent4>
        <a:srgbClr val="B7C1C9"/>
      </a:accent4>
      <a:accent5>
        <a:srgbClr val="C4622A"/>
      </a:accent5>
      <a:accent6>
        <a:srgbClr val="3F4B54"/>
      </a:accent6>
      <a:hlink>
        <a:srgbClr val="C4622A"/>
      </a:hlink>
      <a:folHlink>
        <a:srgbClr val="7D6B91"/>
      </a:folHlink>
    </a:clrScheme>
    <a:fontScheme name="MedSim Charcoal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MedSim Eval: overview</dc:title>
  <dc:subject>Evaluation system for space-medicine digital assistants</dc:subject>
  <dc:creator>PptxGenJS</dc:creator>
  <cp:lastModifiedBy>PptxGenJS</cp:lastModifiedBy>
  <cp:revision>1</cp:revision>
  <dcterms:created xsi:type="dcterms:W3CDTF">2026-10-30T14:24:00Z</dcterms:created>
  <dcterms:modified xsi:type="dcterms:W3CDTF">2026-10-30T14:24:00Z</dcterms:modified>
</cp:coreProperties>
</file>